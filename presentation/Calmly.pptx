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2" r:id="rId4"/>
    <p:sldId id="263" r:id="rId5"/>
    <p:sldId id="265" r:id="rId6"/>
    <p:sldId id="266" r:id="rId7"/>
    <p:sldId id="264" r:id="rId8"/>
    <p:sldId id="267" r:id="rId9"/>
    <p:sldId id="268" r:id="rId10"/>
    <p:sldId id="269" r:id="rId11"/>
    <p:sldId id="270" r:id="rId12"/>
    <p:sldId id="271" r:id="rId13"/>
    <p:sldId id="272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73" r:id="rId28"/>
    <p:sldId id="275" r:id="rId29"/>
    <p:sldId id="276" r:id="rId30"/>
    <p:sldId id="291" r:id="rId31"/>
    <p:sldId id="292" r:id="rId32"/>
    <p:sldId id="293" r:id="rId33"/>
    <p:sldId id="294" r:id="rId34"/>
    <p:sldId id="277" r:id="rId35"/>
    <p:sldId id="274" r:id="rId36"/>
    <p:sldId id="295" r:id="rId37"/>
    <p:sldId id="296" r:id="rId38"/>
    <p:sldId id="297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60"/>
    <a:srgbClr val="F0EFEA"/>
    <a:srgbClr val="692A61"/>
    <a:srgbClr val="858E6D"/>
    <a:srgbClr val="87B1BE"/>
    <a:srgbClr val="76805D"/>
    <a:srgbClr val="D1AF49"/>
    <a:srgbClr val="94761E"/>
    <a:srgbClr val="B3953E"/>
    <a:srgbClr val="A7B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62" dt="2026-09-03T08:19:35.536"/>
    <p1510:client id="{04044092-1E05-CE74-45B3-A5EF8DF0666F}" v="373" dt="2026-09-03T10:50:39.816"/>
    <p1510:client id="{352853EE-DEB5-7CB0-C67E-04D7687A252D}" v="287" dt="2026-09-03T15:28:43.568"/>
    <p1510:client id="{3A5727FD-532B-2804-C509-B9F2CC673169}" v="4" dt="2026-09-03T11:54:39.243"/>
    <p1510:client id="{4567C075-BE13-2B95-69C1-EF087D756528}" v="339" dt="2026-09-02T20:29:45.752"/>
    <p1510:client id="{5F28C839-3612-CCBE-B0A2-4CEAD70C7F6C}" v="6221" dt="2026-09-04T08:07:55.423"/>
    <p1510:client id="{820BD9A0-C0F6-B6D9-AD7D-4B9AA6588E19}" v="546" dt="2026-09-03T09:27:28.726"/>
    <p1510:client id="{9DB8AF03-C991-A685-3141-87C586ADA0A2}" v="3665" dt="2026-09-03T18:34:39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2EEABE-D247-2BE0-17DE-A2B8BB38E28F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FE360FE-5A8E-8DE2-62AB-DBAA4B9E7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77451" y="1958503"/>
            <a:ext cx="5445916" cy="1659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81EF1B-5CFE-4F36-2944-7842E61B9DEA}"/>
              </a:ext>
            </a:extLst>
          </p:cNvPr>
          <p:cNvSpPr txBox="1"/>
          <p:nvPr/>
        </p:nvSpPr>
        <p:spPr>
          <a:xfrm>
            <a:off x="3936699" y="2000249"/>
            <a:ext cx="431590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9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EDA91-6125-32FF-1720-AE00D678A6F7}"/>
              </a:ext>
            </a:extLst>
          </p:cNvPr>
          <p:cNvSpPr txBox="1"/>
          <p:nvPr/>
        </p:nvSpPr>
        <p:spPr>
          <a:xfrm>
            <a:off x="2438160" y="3842047"/>
            <a:ext cx="733335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An AI companion that grows with you, and keeps your therapist in the loop</a:t>
            </a:r>
            <a:endParaRPr lang="en-US" sz="2200">
              <a:latin typeface="Nirmala UI"/>
              <a:ea typeface="Nirmala UI"/>
              <a:cs typeface="Nirmala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ABCCA-4E51-E554-41C0-0DA2419FDB39}"/>
              </a:ext>
            </a:extLst>
          </p:cNvPr>
          <p:cNvSpPr txBox="1"/>
          <p:nvPr/>
        </p:nvSpPr>
        <p:spPr>
          <a:xfrm>
            <a:off x="2223399" y="5553255"/>
            <a:ext cx="7768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E6E3DC"/>
                </a:solidFill>
              </a:rPr>
              <a:t>Weekly adaptive quizzes      |      AI judged journal growth     |     Therapist-facing AI reports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34433E-55F8-39DE-349A-3BFACC5B9002}"/>
              </a:ext>
            </a:extLst>
          </p:cNvPr>
          <p:cNvGrpSpPr/>
          <p:nvPr/>
        </p:nvGrpSpPr>
        <p:grpSpPr>
          <a:xfrm>
            <a:off x="-1258571" y="-1026796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2AACD9-B600-6B4C-1D9F-E8B3F5BBD5D0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BE9797C-81C8-C9F4-69FB-72C354F2D4E7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6D2450-53B7-11C1-B63A-9F5424BE7353}"/>
              </a:ext>
            </a:extLst>
          </p:cNvPr>
          <p:cNvGrpSpPr/>
          <p:nvPr/>
        </p:nvGrpSpPr>
        <p:grpSpPr>
          <a:xfrm>
            <a:off x="10354309" y="4835524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272ABBE-8646-3F4F-F59D-4E46B3863824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5A1E48-9D34-F02A-8D3D-2CBD1AAAA29E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330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6887-D7C1-F6A4-5C1B-1CA1A5EC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93DC57-AFF1-5E3B-6CF0-052D28DB0287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CCEFC8D-939A-B10D-1DB0-0A5F2ED85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8CB1FA1-7D21-5322-2F2C-F9D05B68E915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E43EA0C-5216-41FA-745A-EA87697F2BEA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5ED304-F0D4-6D74-AC0F-6F9F52B77F39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FB9CFC-9757-31FF-4556-8BE35F13CD0A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4ED07-C5D7-8AAC-55F6-0F04A7536EBE}"/>
              </a:ext>
            </a:extLst>
          </p:cNvPr>
          <p:cNvSpPr txBox="1"/>
          <p:nvPr/>
        </p:nvSpPr>
        <p:spPr>
          <a:xfrm>
            <a:off x="-5990" y="1124727"/>
            <a:ext cx="1246606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Patients live their mental health everyday.</a:t>
            </a:r>
          </a:p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Therapy sees only an hour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7970A-2874-91CE-6DA8-E8520CC2E262}"/>
              </a:ext>
            </a:extLst>
          </p:cNvPr>
          <p:cNvSpPr txBox="1"/>
          <p:nvPr/>
        </p:nvSpPr>
        <p:spPr>
          <a:xfrm>
            <a:off x="1993362" y="5826425"/>
            <a:ext cx="84730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0EFEA"/>
                </a:solidFill>
              </a:rPr>
              <a:t>The data patients generate between sessions never reach the people treating them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669C42-9A17-5052-3D74-C27CCB1268FF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636DC96-D68D-E3D0-8BC8-0277F68B4DA5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8D85DB2-347E-9B98-6B02-6A43D2DA48BB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2BA0C87-7A40-B924-FBCA-9775BC823B64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13B073-3624-408A-6E87-C5F916334395}"/>
              </a:ext>
            </a:extLst>
          </p:cNvPr>
          <p:cNvSpPr/>
          <p:nvPr/>
        </p:nvSpPr>
        <p:spPr>
          <a:xfrm>
            <a:off x="-4442306" y="2921000"/>
            <a:ext cx="4114621" cy="1841500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568F01-817B-6F69-78E2-F4C8B3D5585D}"/>
              </a:ext>
            </a:extLst>
          </p:cNvPr>
          <p:cNvSpPr/>
          <p:nvPr/>
        </p:nvSpPr>
        <p:spPr>
          <a:xfrm>
            <a:off x="-4442306" y="3079150"/>
            <a:ext cx="4114620" cy="2301575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0E5C3D-FBCB-FBEA-2146-B9C2A78E0CFF}"/>
              </a:ext>
            </a:extLst>
          </p:cNvPr>
          <p:cNvSpPr/>
          <p:nvPr/>
        </p:nvSpPr>
        <p:spPr>
          <a:xfrm>
            <a:off x="12537354" y="2949755"/>
            <a:ext cx="4143375" cy="1841500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B0E6BF-F3AB-ED53-FCFD-9386CCB17284}"/>
              </a:ext>
            </a:extLst>
          </p:cNvPr>
          <p:cNvSpPr/>
          <p:nvPr/>
        </p:nvSpPr>
        <p:spPr>
          <a:xfrm>
            <a:off x="12537353" y="3107905"/>
            <a:ext cx="4143375" cy="2301575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516E2-DD28-3ED9-AD7D-462DFC11FED1}"/>
              </a:ext>
            </a:extLst>
          </p:cNvPr>
          <p:cNvSpPr txBox="1"/>
          <p:nvPr/>
        </p:nvSpPr>
        <p:spPr>
          <a:xfrm>
            <a:off x="-3125878" y="3209443"/>
            <a:ext cx="14386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rgbClr val="A7BF85"/>
                </a:solidFill>
                <a:latin typeface="Aptos"/>
                <a:ea typeface="Nirmala UI"/>
                <a:cs typeface="Nirmala UI"/>
              </a:rPr>
              <a:t>Patients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13E48C-59B7-64AA-10E4-D40713F444EB}"/>
              </a:ext>
            </a:extLst>
          </p:cNvPr>
          <p:cNvSpPr txBox="1"/>
          <p:nvPr/>
        </p:nvSpPr>
        <p:spPr>
          <a:xfrm>
            <a:off x="13724385" y="3238197"/>
            <a:ext cx="176931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rgbClr val="87B1BE"/>
                </a:solidFill>
                <a:latin typeface="Aptos"/>
                <a:ea typeface="Nirmala UI"/>
                <a:cs typeface="Nirmala UI"/>
              </a:rPr>
              <a:t>Therapists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40A2F7-52D0-891D-082C-90E831F805E3}"/>
              </a:ext>
            </a:extLst>
          </p:cNvPr>
          <p:cNvSpPr txBox="1"/>
          <p:nvPr/>
        </p:nvSpPr>
        <p:spPr>
          <a:xfrm>
            <a:off x="-4448595" y="3540122"/>
            <a:ext cx="4112824" cy="17195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Anxiety happens between sessions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Self-help apps can feel repetitive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Triggers, moods and habits get lost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Stigma makes seeking therapy harder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Motivation fades without visible </a:t>
            </a:r>
          </a:p>
          <a:p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      Progress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22373-0A95-9F1F-C1C9-D29818AEA078}"/>
              </a:ext>
            </a:extLst>
          </p:cNvPr>
          <p:cNvSpPr txBox="1"/>
          <p:nvPr/>
        </p:nvSpPr>
        <p:spPr>
          <a:xfrm>
            <a:off x="12545442" y="3568877"/>
            <a:ext cx="4112824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See patients for a limited window each week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Daily patient behavior remains largely unseen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Progress tracking is often manual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tx1">
                    <a:lumMod val="76000"/>
                    <a:lumOff val="24000"/>
                  </a:schemeClr>
                </a:solidFill>
                <a:latin typeface="Nirmala UI"/>
                <a:ea typeface="Nirmala UI"/>
                <a:cs typeface="Nirmala UI"/>
              </a:rPr>
              <a:t>Lack of continuous context limits intervention</a:t>
            </a:r>
          </a:p>
        </p:txBody>
      </p:sp>
    </p:spTree>
    <p:extLst>
      <p:ext uri="{BB962C8B-B14F-4D97-AF65-F5344CB8AC3E}">
        <p14:creationId xmlns:p14="http://schemas.microsoft.com/office/powerpoint/2010/main" val="12615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18E6-D1C5-5161-32C7-3CEC4950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147451-A0C5-6216-74CB-98577B4BBBF2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306E440-A1EA-2158-8CCD-E12466716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F9CF306-B662-9E30-3816-BF4526887C03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A08EB93-99D3-3641-5E9B-037303A976EC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9D919ED-0E35-34A0-FDB7-ADA6495176B6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482408-23E4-F781-2D14-3D666AB1488B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2FADA-F906-5AE9-D0F6-7C6AE9874ECD}"/>
              </a:ext>
            </a:extLst>
          </p:cNvPr>
          <p:cNvSpPr txBox="1"/>
          <p:nvPr/>
        </p:nvSpPr>
        <p:spPr>
          <a:xfrm>
            <a:off x="-5990" y="1124727"/>
            <a:ext cx="1246606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Patients live their mental health everyday.</a:t>
            </a:r>
          </a:p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Therapy sees only an hour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E327E3-FA99-B051-D2BC-D94998F2CA62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42D4AD-F257-FA9C-D98F-30BA515D4FEE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61A56B-6580-8033-EC95-3393E282F9DD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4A9B3F-A626-DCF0-DC72-C68F55B95142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178636-EAF6-F880-062F-B98CAA83B3B3}"/>
              </a:ext>
            </a:extLst>
          </p:cNvPr>
          <p:cNvSpPr/>
          <p:nvPr/>
        </p:nvSpPr>
        <p:spPr>
          <a:xfrm>
            <a:off x="1251128" y="2921000"/>
            <a:ext cx="4114621" cy="1841500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D9A145-5A48-0A4E-B53F-CAAB021A8C28}"/>
              </a:ext>
            </a:extLst>
          </p:cNvPr>
          <p:cNvSpPr/>
          <p:nvPr/>
        </p:nvSpPr>
        <p:spPr>
          <a:xfrm>
            <a:off x="1251128" y="3079150"/>
            <a:ext cx="4114620" cy="2301575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406D0F-1B7B-3EF0-D725-903BD8CD9214}"/>
              </a:ext>
            </a:extLst>
          </p:cNvPr>
          <p:cNvSpPr/>
          <p:nvPr/>
        </p:nvSpPr>
        <p:spPr>
          <a:xfrm>
            <a:off x="6786411" y="2921000"/>
            <a:ext cx="4143375" cy="1841500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53AE92-C9A3-831B-01DC-D9D5068AB8C9}"/>
              </a:ext>
            </a:extLst>
          </p:cNvPr>
          <p:cNvSpPr/>
          <p:nvPr/>
        </p:nvSpPr>
        <p:spPr>
          <a:xfrm>
            <a:off x="6786410" y="3079150"/>
            <a:ext cx="4143375" cy="2301575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CB3903-A6B6-6754-A044-754BDA4F8B1A}"/>
              </a:ext>
            </a:extLst>
          </p:cNvPr>
          <p:cNvSpPr txBox="1"/>
          <p:nvPr/>
        </p:nvSpPr>
        <p:spPr>
          <a:xfrm>
            <a:off x="2567556" y="3209443"/>
            <a:ext cx="14386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rgbClr val="A7BF85"/>
                </a:solidFill>
                <a:latin typeface="Aptos"/>
                <a:ea typeface="Nirmala UI"/>
                <a:cs typeface="Nirmala UI"/>
              </a:rPr>
              <a:t>Patients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3B93FD-8170-DD5B-8815-5EBB8BFD30E2}"/>
              </a:ext>
            </a:extLst>
          </p:cNvPr>
          <p:cNvSpPr txBox="1"/>
          <p:nvPr/>
        </p:nvSpPr>
        <p:spPr>
          <a:xfrm>
            <a:off x="7973442" y="3209442"/>
            <a:ext cx="176931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rgbClr val="87B1BE"/>
                </a:solidFill>
                <a:latin typeface="Aptos"/>
                <a:ea typeface="Nirmala UI"/>
                <a:cs typeface="Nirmala UI"/>
              </a:rPr>
              <a:t>Therapists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4C2D3F-0030-7922-9101-075FA9EC9E46}"/>
              </a:ext>
            </a:extLst>
          </p:cNvPr>
          <p:cNvSpPr txBox="1"/>
          <p:nvPr/>
        </p:nvSpPr>
        <p:spPr>
          <a:xfrm>
            <a:off x="1244839" y="3540122"/>
            <a:ext cx="4112824" cy="17195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Anxiety happens between sessions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Self-help apps can feel repetitive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Triggers, moods and habits get lost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Stigma makes seeking therapy harder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Motivation fades without visible </a:t>
            </a:r>
          </a:p>
          <a:p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      Progress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132B1-BCC0-4D82-6342-EAA00A3CB506}"/>
              </a:ext>
            </a:extLst>
          </p:cNvPr>
          <p:cNvSpPr txBox="1"/>
          <p:nvPr/>
        </p:nvSpPr>
        <p:spPr>
          <a:xfrm>
            <a:off x="6794499" y="3511367"/>
            <a:ext cx="4112824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See patients for a limited window each week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Daily patient behavior remains largely unseen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Progress tracking is often manual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Lack of continuous context limits intervention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DB39A-2E94-5D8F-1866-2F82F78BFE5B}"/>
              </a:ext>
            </a:extLst>
          </p:cNvPr>
          <p:cNvSpPr txBox="1"/>
          <p:nvPr/>
        </p:nvSpPr>
        <p:spPr>
          <a:xfrm>
            <a:off x="1993362" y="5826425"/>
            <a:ext cx="84730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0EFEA"/>
                </a:solidFill>
              </a:rPr>
              <a:t>The data patients generate between sessions never reach the people treating them</a:t>
            </a:r>
          </a:p>
        </p:txBody>
      </p:sp>
    </p:spTree>
    <p:extLst>
      <p:ext uri="{BB962C8B-B14F-4D97-AF65-F5344CB8AC3E}">
        <p14:creationId xmlns:p14="http://schemas.microsoft.com/office/powerpoint/2010/main" val="392224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4739-7DD9-8559-84D4-BFE98DFB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292F63-831B-3C77-2864-9B1133E018FB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0B91CA6-B3EB-ABCF-1962-71399031DA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E25682D-7A53-E3CE-2906-8024667812B3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C05A5C4-BDA4-C45C-CA5D-E235D5545044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EE6542-ACDB-7976-A525-925886A45E87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4A74D32-E54E-66DE-AD99-86910C06BE2E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A2E41-14E3-B97E-ACFD-0BD4195C55DC}"/>
              </a:ext>
            </a:extLst>
          </p:cNvPr>
          <p:cNvSpPr txBox="1"/>
          <p:nvPr/>
        </p:nvSpPr>
        <p:spPr>
          <a:xfrm>
            <a:off x="-135386" y="1052840"/>
            <a:ext cx="1246606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44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- One continuous care loop, connecting patients and therapists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0591D-DF69-FAE7-973B-986BCB347E31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55EF162-CCBB-73CB-952D-8A268EDE263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69B5639-B85E-86C4-8961-AEDF9E0C52F2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68E528-1644-FAF2-17DA-B8DB1AE68E33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844A8E-5CF1-B682-62AC-569A4BAF36B0}"/>
              </a:ext>
            </a:extLst>
          </p:cNvPr>
          <p:cNvSpPr/>
          <p:nvPr/>
        </p:nvSpPr>
        <p:spPr>
          <a:xfrm>
            <a:off x="1164865" y="2647830"/>
            <a:ext cx="2849412" cy="3365496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789C6-80A4-071D-E3EB-7AAAFEC0DD0A}"/>
              </a:ext>
            </a:extLst>
          </p:cNvPr>
          <p:cNvSpPr txBox="1"/>
          <p:nvPr/>
        </p:nvSpPr>
        <p:spPr>
          <a:xfrm>
            <a:off x="2116466" y="7058383"/>
            <a:ext cx="8216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76805D"/>
                </a:solidFill>
              </a:rPr>
              <a:t>Patient acts</a:t>
            </a:r>
            <a:r>
              <a:rPr lang="en-US" dirty="0">
                <a:solidFill>
                  <a:srgbClr val="C00000"/>
                </a:solidFill>
              </a:rPr>
              <a:t>  </a:t>
            </a:r>
            <a:r>
              <a:rPr lang="en-US" dirty="0">
                <a:solidFill>
                  <a:srgbClr val="2E5460"/>
                </a:solidFill>
              </a:rPr>
              <a:t> -&gt;</a:t>
            </a:r>
            <a:r>
              <a:rPr lang="en-US" dirty="0"/>
              <a:t>  </a:t>
            </a:r>
            <a:r>
              <a:rPr lang="en-US" dirty="0">
                <a:solidFill>
                  <a:srgbClr val="C00000"/>
                </a:solidFill>
              </a:rPr>
              <a:t>AI understands</a:t>
            </a:r>
            <a:r>
              <a:rPr lang="en-US" dirty="0"/>
              <a:t> </a:t>
            </a:r>
            <a:r>
              <a:rPr lang="en-US" dirty="0">
                <a:solidFill>
                  <a:srgbClr val="76805D"/>
                </a:solidFill>
              </a:rPr>
              <a:t> -&gt;</a:t>
            </a:r>
            <a:r>
              <a:rPr lang="en-US" dirty="0"/>
              <a:t>  </a:t>
            </a:r>
            <a:r>
              <a:rPr lang="en-US" dirty="0">
                <a:solidFill>
                  <a:srgbClr val="2E5460"/>
                </a:solidFill>
              </a:rPr>
              <a:t>Therapist intervenes</a:t>
            </a:r>
            <a:r>
              <a:rPr lang="en-US" dirty="0">
                <a:solidFill>
                  <a:srgbClr val="C00000"/>
                </a:solidFill>
              </a:rPr>
              <a:t>  -&gt; </a:t>
            </a:r>
            <a:r>
              <a:rPr lang="en-US" dirty="0"/>
              <a:t> </a:t>
            </a:r>
            <a:r>
              <a:rPr lang="en-US" dirty="0">
                <a:solidFill>
                  <a:srgbClr val="94761E"/>
                </a:solidFill>
              </a:rPr>
              <a:t>Care improves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8F209DAD-8E1F-163B-FD8E-2450DCB7A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77" y="2874125"/>
            <a:ext cx="1413295" cy="2921301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6942A2-AE72-5F1E-BA1D-E35DE066FD7F}"/>
              </a:ext>
            </a:extLst>
          </p:cNvPr>
          <p:cNvSpPr txBox="1"/>
          <p:nvPr/>
        </p:nvSpPr>
        <p:spPr>
          <a:xfrm>
            <a:off x="1657797" y="5989196"/>
            <a:ext cx="1861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Practice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19413-E211-149C-17B5-79FBFC363092}"/>
              </a:ext>
            </a:extLst>
          </p:cNvPr>
          <p:cNvSpPr txBox="1"/>
          <p:nvPr/>
        </p:nvSpPr>
        <p:spPr>
          <a:xfrm>
            <a:off x="1073210" y="5754537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Journal . Exercises . Mood and sleep .</a:t>
            </a:r>
          </a:p>
        </p:txBody>
      </p:sp>
    </p:spTree>
    <p:extLst>
      <p:ext uri="{BB962C8B-B14F-4D97-AF65-F5344CB8AC3E}">
        <p14:creationId xmlns:p14="http://schemas.microsoft.com/office/powerpoint/2010/main" val="1154182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8F86-A323-52E7-8F75-6364E61D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55D09-31A9-F183-9D22-F38E3AC52CB4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836DB64-6CD4-A7E7-5A6B-A7D394248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725108B-EAA9-29BB-E7A2-9860B05FC473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4E1653-5038-5AB6-A057-8D04021ED7E4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8628F45-5C6E-69B8-102D-0F1DD1C844B3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1D68317-467A-135D-49E3-7D27DAB456F4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B8BEA-26D3-26FB-FFA0-A0238E26D239}"/>
              </a:ext>
            </a:extLst>
          </p:cNvPr>
          <p:cNvSpPr txBox="1"/>
          <p:nvPr/>
        </p:nvSpPr>
        <p:spPr>
          <a:xfrm>
            <a:off x="-135386" y="1052840"/>
            <a:ext cx="1246606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44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- One continuous care loop, connecting patients and therapists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B61C29-E47E-9118-C81E-E31CF3E2A86C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38DB18-6280-4133-0A81-559F6740CF0B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2F095E-1642-0D74-BA2E-C15FBEDB8208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62E5070-79F4-D64B-6A3E-DD6AB57974C2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535DC6-9CFC-2A09-B0BE-6A99D1F73E30}"/>
              </a:ext>
            </a:extLst>
          </p:cNvPr>
          <p:cNvSpPr/>
          <p:nvPr/>
        </p:nvSpPr>
        <p:spPr>
          <a:xfrm>
            <a:off x="1164865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A0152E-1A48-288A-9393-86647A5C482F}"/>
              </a:ext>
            </a:extLst>
          </p:cNvPr>
          <p:cNvSpPr/>
          <p:nvPr/>
        </p:nvSpPr>
        <p:spPr>
          <a:xfrm>
            <a:off x="4802336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C759EB-A9A7-E81A-E2C6-9200CAC1D65C}"/>
              </a:ext>
            </a:extLst>
          </p:cNvPr>
          <p:cNvSpPr txBox="1"/>
          <p:nvPr/>
        </p:nvSpPr>
        <p:spPr>
          <a:xfrm>
            <a:off x="2116466" y="7058383"/>
            <a:ext cx="8216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76805D"/>
                </a:solidFill>
              </a:rPr>
              <a:t>Patient acts</a:t>
            </a:r>
            <a:r>
              <a:rPr lang="en-US" dirty="0">
                <a:solidFill>
                  <a:srgbClr val="C00000"/>
                </a:solidFill>
              </a:rPr>
              <a:t>  </a:t>
            </a:r>
            <a:r>
              <a:rPr lang="en-US" dirty="0">
                <a:solidFill>
                  <a:srgbClr val="2E5460"/>
                </a:solidFill>
              </a:rPr>
              <a:t> -&gt;</a:t>
            </a:r>
            <a:r>
              <a:rPr lang="en-US" dirty="0"/>
              <a:t>  </a:t>
            </a:r>
            <a:r>
              <a:rPr lang="en-US" dirty="0">
                <a:solidFill>
                  <a:srgbClr val="C00000"/>
                </a:solidFill>
              </a:rPr>
              <a:t>AI understands</a:t>
            </a:r>
            <a:r>
              <a:rPr lang="en-US" dirty="0"/>
              <a:t> </a:t>
            </a:r>
            <a:r>
              <a:rPr lang="en-US" dirty="0">
                <a:solidFill>
                  <a:srgbClr val="76805D"/>
                </a:solidFill>
              </a:rPr>
              <a:t> -&gt;</a:t>
            </a:r>
            <a:r>
              <a:rPr lang="en-US" dirty="0"/>
              <a:t>  </a:t>
            </a:r>
            <a:r>
              <a:rPr lang="en-US" dirty="0">
                <a:solidFill>
                  <a:srgbClr val="2E5460"/>
                </a:solidFill>
              </a:rPr>
              <a:t>Therapist intervenes</a:t>
            </a:r>
            <a:r>
              <a:rPr lang="en-US" dirty="0">
                <a:solidFill>
                  <a:srgbClr val="C00000"/>
                </a:solidFill>
              </a:rPr>
              <a:t>  -&gt; </a:t>
            </a:r>
            <a:r>
              <a:rPr lang="en-US" dirty="0"/>
              <a:t> </a:t>
            </a:r>
            <a:r>
              <a:rPr lang="en-US" dirty="0">
                <a:solidFill>
                  <a:srgbClr val="94761E"/>
                </a:solidFill>
              </a:rPr>
              <a:t>Care improves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033CCE8-8911-8EBD-E80F-FBAC4B00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77" y="2874125"/>
            <a:ext cx="1413295" cy="2921301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363CB51-22C5-2EFF-3CA1-15D7397E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840" y="2888501"/>
            <a:ext cx="1413115" cy="2878169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780F02-AFAB-8212-6F29-0BB5B8CFE9A2}"/>
              </a:ext>
            </a:extLst>
          </p:cNvPr>
          <p:cNvSpPr txBox="1"/>
          <p:nvPr/>
        </p:nvSpPr>
        <p:spPr>
          <a:xfrm>
            <a:off x="1657797" y="5989196"/>
            <a:ext cx="1861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Practice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B6D60-8227-F8A7-DCA7-DB7AA27A8FDA}"/>
              </a:ext>
            </a:extLst>
          </p:cNvPr>
          <p:cNvSpPr txBox="1"/>
          <p:nvPr/>
        </p:nvSpPr>
        <p:spPr>
          <a:xfrm>
            <a:off x="5303895" y="5983445"/>
            <a:ext cx="1861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Living Feedback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5CFD1D-5A17-8C31-73C8-DFF4D05E0D33}"/>
              </a:ext>
            </a:extLst>
          </p:cNvPr>
          <p:cNvSpPr txBox="1"/>
          <p:nvPr/>
        </p:nvSpPr>
        <p:spPr>
          <a:xfrm>
            <a:off x="1073210" y="5754537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Journal . Exercises . Mood and sleep 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5965DE-267F-7512-84AC-8DE04E9EE4A6}"/>
              </a:ext>
            </a:extLst>
          </p:cNvPr>
          <p:cNvSpPr txBox="1"/>
          <p:nvPr/>
        </p:nvSpPr>
        <p:spPr>
          <a:xfrm>
            <a:off x="4704931" y="5734409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 plant that grows with real progress</a:t>
            </a:r>
          </a:p>
        </p:txBody>
      </p:sp>
    </p:spTree>
    <p:extLst>
      <p:ext uri="{BB962C8B-B14F-4D97-AF65-F5344CB8AC3E}">
        <p14:creationId xmlns:p14="http://schemas.microsoft.com/office/powerpoint/2010/main" val="2055154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1735E-A89C-A02C-6302-1A931BC9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120A70-6117-2367-64AD-71646B4F0C1C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F1C3AA7-16B8-3A26-3A7D-8E3608D5F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D7243C0-FCED-DF30-36FB-2A315F7DDFE5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5F05E9E-AE17-B822-7CC1-34D58E21AA17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A859D7-B30E-2D59-16AE-002139F4CC71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597603-D6B6-464D-C6F3-06F32379E2E7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E360-A761-B086-37F6-033C96654654}"/>
              </a:ext>
            </a:extLst>
          </p:cNvPr>
          <p:cNvSpPr txBox="1"/>
          <p:nvPr/>
        </p:nvSpPr>
        <p:spPr>
          <a:xfrm>
            <a:off x="-135386" y="1052840"/>
            <a:ext cx="1246606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44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- One continuous care loop, connecting patients and therapists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BF0F1D-BFA7-0B55-FDEB-3D324A8F04CA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E8584D-B67C-2104-B970-EED84B069565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EC31BD-06E0-EC8E-8031-9ADCCB40838C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B7BCCEB-E803-531F-9482-BFE9F1FD1B95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070BAD1-7301-2F66-628A-0F5502EAACE0}"/>
              </a:ext>
            </a:extLst>
          </p:cNvPr>
          <p:cNvSpPr/>
          <p:nvPr/>
        </p:nvSpPr>
        <p:spPr>
          <a:xfrm>
            <a:off x="1164865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270420-451B-B6F6-8D6D-7101A3707418}"/>
              </a:ext>
            </a:extLst>
          </p:cNvPr>
          <p:cNvSpPr/>
          <p:nvPr/>
        </p:nvSpPr>
        <p:spPr>
          <a:xfrm>
            <a:off x="4802336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1335A9D-71E5-8E6D-35A7-F05E9B781CC4}"/>
              </a:ext>
            </a:extLst>
          </p:cNvPr>
          <p:cNvSpPr/>
          <p:nvPr/>
        </p:nvSpPr>
        <p:spPr>
          <a:xfrm>
            <a:off x="8439807" y="2647829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C645E0-CC4E-26DA-0676-C3A9BF31CF12}"/>
              </a:ext>
            </a:extLst>
          </p:cNvPr>
          <p:cNvSpPr txBox="1"/>
          <p:nvPr/>
        </p:nvSpPr>
        <p:spPr>
          <a:xfrm>
            <a:off x="2116466" y="7058383"/>
            <a:ext cx="8216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76805D"/>
                </a:solidFill>
              </a:rPr>
              <a:t>Patient acts</a:t>
            </a:r>
            <a:r>
              <a:rPr lang="en-US" dirty="0">
                <a:solidFill>
                  <a:srgbClr val="C00000"/>
                </a:solidFill>
              </a:rPr>
              <a:t>  </a:t>
            </a:r>
            <a:r>
              <a:rPr lang="en-US" dirty="0">
                <a:solidFill>
                  <a:srgbClr val="2E5460"/>
                </a:solidFill>
              </a:rPr>
              <a:t> -&gt;</a:t>
            </a:r>
            <a:r>
              <a:rPr lang="en-US" dirty="0"/>
              <a:t>  </a:t>
            </a:r>
            <a:r>
              <a:rPr lang="en-US" dirty="0">
                <a:solidFill>
                  <a:srgbClr val="C00000"/>
                </a:solidFill>
              </a:rPr>
              <a:t>AI understands</a:t>
            </a:r>
            <a:r>
              <a:rPr lang="en-US" dirty="0"/>
              <a:t> </a:t>
            </a:r>
            <a:r>
              <a:rPr lang="en-US" dirty="0">
                <a:solidFill>
                  <a:srgbClr val="76805D"/>
                </a:solidFill>
              </a:rPr>
              <a:t> -&gt;</a:t>
            </a:r>
            <a:r>
              <a:rPr lang="en-US" dirty="0"/>
              <a:t>  </a:t>
            </a:r>
            <a:r>
              <a:rPr lang="en-US" dirty="0">
                <a:solidFill>
                  <a:srgbClr val="2E5460"/>
                </a:solidFill>
              </a:rPr>
              <a:t>Therapist intervenes</a:t>
            </a:r>
            <a:r>
              <a:rPr lang="en-US" dirty="0">
                <a:solidFill>
                  <a:srgbClr val="C00000"/>
                </a:solidFill>
              </a:rPr>
              <a:t>  -&gt; </a:t>
            </a:r>
            <a:r>
              <a:rPr lang="en-US" dirty="0"/>
              <a:t> </a:t>
            </a:r>
            <a:r>
              <a:rPr lang="en-US" dirty="0">
                <a:solidFill>
                  <a:srgbClr val="94761E"/>
                </a:solidFill>
              </a:rPr>
              <a:t>Care improves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A198EEAF-D6C8-F107-2E8D-FCED070F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77" y="2874125"/>
            <a:ext cx="1413295" cy="2921301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5A279D5-029E-08B9-BB08-F7D82A5C1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840" y="2888501"/>
            <a:ext cx="1413115" cy="2878169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20" name="Picture 19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FE6CE960-0A3D-F35B-7A1E-9B800AD1F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073" y="2869361"/>
            <a:ext cx="1403590" cy="294520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7E32D-ADF8-5FEE-1988-97995C4E8BC9}"/>
              </a:ext>
            </a:extLst>
          </p:cNvPr>
          <p:cNvSpPr txBox="1"/>
          <p:nvPr/>
        </p:nvSpPr>
        <p:spPr>
          <a:xfrm>
            <a:off x="1657797" y="5989196"/>
            <a:ext cx="1861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Practice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1A4E1-6218-10B2-1C26-F83C2AE05AA3}"/>
              </a:ext>
            </a:extLst>
          </p:cNvPr>
          <p:cNvSpPr txBox="1"/>
          <p:nvPr/>
        </p:nvSpPr>
        <p:spPr>
          <a:xfrm>
            <a:off x="5303895" y="5983445"/>
            <a:ext cx="1861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Living Feedback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F8898-B2B7-8593-87DC-7774402C7F9F}"/>
              </a:ext>
            </a:extLst>
          </p:cNvPr>
          <p:cNvSpPr txBox="1"/>
          <p:nvPr/>
        </p:nvSpPr>
        <p:spPr>
          <a:xfrm>
            <a:off x="8863728" y="6006449"/>
            <a:ext cx="20773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Professional </a:t>
            </a:r>
            <a:endParaRPr lang="en-US"/>
          </a:p>
          <a:p>
            <a:pPr algn="ctr"/>
            <a:r>
              <a:rPr lang="en-US" b="1" dirty="0">
                <a:solidFill>
                  <a:srgbClr val="2E5460"/>
                </a:solidFill>
              </a:rPr>
              <a:t>Loop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7E14DF-2367-1FA8-FD64-DBF3DDF7C4BE}"/>
              </a:ext>
            </a:extLst>
          </p:cNvPr>
          <p:cNvSpPr txBox="1"/>
          <p:nvPr/>
        </p:nvSpPr>
        <p:spPr>
          <a:xfrm>
            <a:off x="4704931" y="5734409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 plant that grows with real progress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22F6DE-165F-4783-FBDB-6EFCBD4CA05C}"/>
              </a:ext>
            </a:extLst>
          </p:cNvPr>
          <p:cNvSpPr txBox="1"/>
          <p:nvPr/>
        </p:nvSpPr>
        <p:spPr>
          <a:xfrm>
            <a:off x="8336652" y="5771790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Weekly AI report to the therapist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ED970-66AB-ECAD-D606-FD3919503A7A}"/>
              </a:ext>
            </a:extLst>
          </p:cNvPr>
          <p:cNvSpPr txBox="1"/>
          <p:nvPr/>
        </p:nvSpPr>
        <p:spPr>
          <a:xfrm>
            <a:off x="1073210" y="5754537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Journal . Exercises . Mood and sleep .</a:t>
            </a:r>
          </a:p>
        </p:txBody>
      </p:sp>
    </p:spTree>
    <p:extLst>
      <p:ext uri="{BB962C8B-B14F-4D97-AF65-F5344CB8AC3E}">
        <p14:creationId xmlns:p14="http://schemas.microsoft.com/office/powerpoint/2010/main" val="2908812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4A57-3607-25B2-0E86-537A11AD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178A9B-9250-0EDD-1A63-F2631C711EDA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B2D2025-4C02-7432-A91A-B546AFBBF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448880"/>
            <a:ext cx="1506521" cy="480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505B096-890C-146E-C89D-C7F68CFE5C60}"/>
              </a:ext>
            </a:extLst>
          </p:cNvPr>
          <p:cNvGrpSpPr/>
          <p:nvPr/>
        </p:nvGrpSpPr>
        <p:grpSpPr>
          <a:xfrm rot="14880000">
            <a:off x="10296800" y="-104481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E098579-9782-EAD1-C65C-DC405D6E05C2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689720-6F79-461B-58BC-8D8842831EA4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241BFE-549C-749F-FDDC-16C5BF9ABA61}"/>
              </a:ext>
            </a:extLst>
          </p:cNvPr>
          <p:cNvSpPr txBox="1"/>
          <p:nvPr/>
        </p:nvSpPr>
        <p:spPr>
          <a:xfrm>
            <a:off x="454668" y="517367"/>
            <a:ext cx="1422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1042E-74BF-D348-45F4-C3228019912F}"/>
              </a:ext>
            </a:extLst>
          </p:cNvPr>
          <p:cNvSpPr txBox="1"/>
          <p:nvPr/>
        </p:nvSpPr>
        <p:spPr>
          <a:xfrm>
            <a:off x="-135386" y="1052840"/>
            <a:ext cx="1246606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44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- One continuous care loop, connecting patients and therapists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E7445C-ECCD-AB4A-C77F-B0CA4A3699A6}"/>
              </a:ext>
            </a:extLst>
          </p:cNvPr>
          <p:cNvGrpSpPr/>
          <p:nvPr/>
        </p:nvGrpSpPr>
        <p:grpSpPr>
          <a:xfrm rot="-5100000">
            <a:off x="-1289051" y="524192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7AEFCF-D56F-3CA8-05E2-65B313F6762D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3B1FFAF-140B-4B73-E9E3-F45216F9C14C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A3100A6-80C0-4716-C6D0-CBD825A62060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AC977D-2F98-F828-84ED-2B6F79D09719}"/>
              </a:ext>
            </a:extLst>
          </p:cNvPr>
          <p:cNvSpPr/>
          <p:nvPr/>
        </p:nvSpPr>
        <p:spPr>
          <a:xfrm>
            <a:off x="1164865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846BAE-7F0F-F11F-2E5A-583483220B1A}"/>
              </a:ext>
            </a:extLst>
          </p:cNvPr>
          <p:cNvSpPr/>
          <p:nvPr/>
        </p:nvSpPr>
        <p:spPr>
          <a:xfrm>
            <a:off x="4802336" y="2647830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9F0577-CEAA-851A-95E8-9C1D68B5DAF0}"/>
              </a:ext>
            </a:extLst>
          </p:cNvPr>
          <p:cNvSpPr/>
          <p:nvPr/>
        </p:nvSpPr>
        <p:spPr>
          <a:xfrm>
            <a:off x="8439807" y="2647829"/>
            <a:ext cx="2849412" cy="3365497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8829EB-48A5-4634-FA47-598E3F73E0A8}"/>
              </a:ext>
            </a:extLst>
          </p:cNvPr>
          <p:cNvSpPr txBox="1"/>
          <p:nvPr/>
        </p:nvSpPr>
        <p:spPr>
          <a:xfrm>
            <a:off x="2116466" y="6282006"/>
            <a:ext cx="8216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76805D"/>
                </a:solidFill>
              </a:rPr>
              <a:t>Patient acts</a:t>
            </a:r>
            <a:r>
              <a:rPr lang="en-US" dirty="0">
                <a:solidFill>
                  <a:srgbClr val="C00000"/>
                </a:solidFill>
              </a:rPr>
              <a:t>  </a:t>
            </a:r>
            <a:r>
              <a:rPr lang="en-US" dirty="0">
                <a:solidFill>
                  <a:srgbClr val="2E5460"/>
                </a:solidFill>
              </a:rPr>
              <a:t> -&gt;</a:t>
            </a:r>
            <a:r>
              <a:rPr lang="en-US" dirty="0"/>
              <a:t>  </a:t>
            </a:r>
            <a:r>
              <a:rPr lang="en-US" dirty="0">
                <a:solidFill>
                  <a:srgbClr val="C00000"/>
                </a:solidFill>
              </a:rPr>
              <a:t>AI understands</a:t>
            </a:r>
            <a:r>
              <a:rPr lang="en-US" dirty="0"/>
              <a:t> </a:t>
            </a:r>
            <a:r>
              <a:rPr lang="en-US" dirty="0">
                <a:solidFill>
                  <a:srgbClr val="76805D"/>
                </a:solidFill>
              </a:rPr>
              <a:t> -&gt;</a:t>
            </a:r>
            <a:r>
              <a:rPr lang="en-US" dirty="0"/>
              <a:t>  </a:t>
            </a:r>
            <a:r>
              <a:rPr lang="en-US" dirty="0">
                <a:solidFill>
                  <a:srgbClr val="2E5460"/>
                </a:solidFill>
              </a:rPr>
              <a:t>Therapist intervenes</a:t>
            </a:r>
            <a:r>
              <a:rPr lang="en-US" dirty="0">
                <a:solidFill>
                  <a:srgbClr val="C00000"/>
                </a:solidFill>
              </a:rPr>
              <a:t>  -&gt; </a:t>
            </a:r>
            <a:r>
              <a:rPr lang="en-US" dirty="0"/>
              <a:t> </a:t>
            </a:r>
            <a:r>
              <a:rPr lang="en-US" dirty="0">
                <a:solidFill>
                  <a:srgbClr val="94761E"/>
                </a:solidFill>
              </a:rPr>
              <a:t>Care improves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60AF5-73A0-BB0D-EE41-CF0C6BCD4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40" y="2888501"/>
            <a:ext cx="1413115" cy="2878169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BE44DF-3A4D-B25A-C9EE-E7FDB978D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277" y="2874125"/>
            <a:ext cx="1413295" cy="2921301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C2D812-07B8-A985-FF5A-C8420945E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073" y="2869361"/>
            <a:ext cx="1403590" cy="294520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FD691-6239-5079-57DB-A08E4401E582}"/>
              </a:ext>
            </a:extLst>
          </p:cNvPr>
          <p:cNvSpPr txBox="1"/>
          <p:nvPr/>
        </p:nvSpPr>
        <p:spPr>
          <a:xfrm>
            <a:off x="1073210" y="5754537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Journal . Exercises . Mood and sleep 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BAC795-63A3-8395-8175-CD532999CC30}"/>
              </a:ext>
            </a:extLst>
          </p:cNvPr>
          <p:cNvSpPr txBox="1"/>
          <p:nvPr/>
        </p:nvSpPr>
        <p:spPr>
          <a:xfrm>
            <a:off x="4704931" y="5734409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 plant that grows with real progress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6A2D2-257E-E0A9-85AC-1F081C37AF57}"/>
              </a:ext>
            </a:extLst>
          </p:cNvPr>
          <p:cNvSpPr txBox="1"/>
          <p:nvPr/>
        </p:nvSpPr>
        <p:spPr>
          <a:xfrm>
            <a:off x="8336652" y="5771790"/>
            <a:ext cx="3052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Weekly AI report to the therapist</a:t>
            </a:r>
          </a:p>
        </p:txBody>
      </p:sp>
    </p:spTree>
    <p:extLst>
      <p:ext uri="{BB962C8B-B14F-4D97-AF65-F5344CB8AC3E}">
        <p14:creationId xmlns:p14="http://schemas.microsoft.com/office/powerpoint/2010/main" val="152701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6D1C-1A26-C047-1BB6-D98DC84B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6B2A63-34BD-1ECD-264F-B0ABDA20A12B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97735-394C-9090-F708-DD3349954A11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89254DE-B6CE-183F-B609-DA3CDCA4DB6D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5F3D856-B160-68AF-F381-72C12893CEE5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C03C6A-BE85-0495-853D-1AAC988B7C5B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5B2F04F-7796-2596-846B-7AC832581130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B19BAC2-F774-21C6-AD5E-7A8FECF04B90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89EF6F26-FD28-C968-FA9D-DB5400B3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B96754-1FB6-E0C2-D876-31E28D0730A5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FECC5B-4094-3F52-B4C7-D8BC98FB6957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810573-9ABA-B31D-45C3-B0CA268BAF94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38A75-BD19-D344-4108-CB6613CA4685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5F1FE-7F12-CF5C-3341-85B3F2A454E7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DEEBB34C-8AC3-85C7-AA7F-6A5BE579E8D5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762DBB-DD92-CAB4-3E18-B272A3F0C866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90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8EED-A2FD-73E0-61A2-6FED88A6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3DCC92-1F1C-00E2-D3FC-E54A9CF43477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1A8E59-8ECC-0B99-5C66-666D59DF718A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B854760-2A5A-BBB3-CD60-DBDF58C34B55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554050-3FE8-7D67-67CC-0E5A2333C561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739EF1-4F11-1E0A-0DA9-2CC97472442F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DC2588-3643-DDDB-E122-442F2BCC04FF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6D016E9-225D-7706-8EDE-E5C24BD8906E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1A4A15B6-4F1C-8536-741F-409502E535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566055-2B21-9D08-82C3-872BD4BF5B98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DD79F-EEC6-6066-58CC-42EC4825B3DB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093E39-F550-8A6C-9737-EFD21CB7A724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C500E-958D-B3F9-7C8B-EA68CCB2F984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3D0A4D-492C-FC3A-F280-50B91E4AC839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0366FC-AB23-4A70-F0C0-11EEA47011B9}"/>
              </a:ext>
            </a:extLst>
          </p:cNvPr>
          <p:cNvSpPr txBox="1"/>
          <p:nvPr/>
        </p:nvSpPr>
        <p:spPr>
          <a:xfrm>
            <a:off x="971669" y="1886726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gap between therapy sessions -</a:t>
            </a:r>
          </a:p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may not see what happens in a patients daily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F50C5-D77A-7D1A-5AAB-0CC4E2D0A893}"/>
              </a:ext>
            </a:extLst>
          </p:cNvPr>
          <p:cNvSpPr txBox="1"/>
          <p:nvPr/>
        </p:nvSpPr>
        <p:spPr>
          <a:xfrm>
            <a:off x="6679480" y="1886725"/>
            <a:ext cx="51767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Continuous visibility through daily journals, mood, sleep, exercises and weekly patterns.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DB98B75C-A883-BFA3-FE9D-5EB421BC87EF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A29024-C98C-89DA-3E39-37580590E5AC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640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0CEF-4F0C-B633-9E1B-23CDB7075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108693-0C7D-A5B5-C02D-7F9551F2EA57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6707C3-26E0-50F2-884C-0229941F499C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508548-7A7D-2112-8C14-288392A82E3B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AB31430-FC9E-AFFB-80EA-AA1D3CFBE593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0046E7-C333-E4F8-45FD-F8879B2657DB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B3ED55-06A8-BD54-A979-6EA0C7071E22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F05808-9596-45CA-74F4-1BE2C241113E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7C572A40-6ABE-6B43-8119-FA1F4B24D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6C39A3-8C90-9BAB-188E-6DA2EFF71E5F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BA1CB2-D6D4-9D75-051D-2937DE7FC7F7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26CDEC-7854-454C-D4A9-05EE9ADE83A2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95D90-2B1F-C860-B8FB-8DE596279B1F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A7E50-7922-2B99-7A53-61D77CFA8C5A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991AD7-8287-B3D0-795C-15C14AA90E84}"/>
              </a:ext>
            </a:extLst>
          </p:cNvPr>
          <p:cNvSpPr txBox="1"/>
          <p:nvPr/>
        </p:nvSpPr>
        <p:spPr>
          <a:xfrm>
            <a:off x="971669" y="1886726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gap between therapy sessions -</a:t>
            </a:r>
          </a:p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may not see what happens in a patients daily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1EEEF-D5D2-F2C4-4165-2B25DCD75126}"/>
              </a:ext>
            </a:extLst>
          </p:cNvPr>
          <p:cNvSpPr txBox="1"/>
          <p:nvPr/>
        </p:nvSpPr>
        <p:spPr>
          <a:xfrm>
            <a:off x="6679480" y="1886725"/>
            <a:ext cx="51767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Continuous visibility through daily journals, mood, sleep, exercises and weekly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D5CE3-79A4-D9D4-36B7-55D9A76C7043}"/>
              </a:ext>
            </a:extLst>
          </p:cNvPr>
          <p:cNvSpPr txBox="1"/>
          <p:nvPr/>
        </p:nvSpPr>
        <p:spPr>
          <a:xfrm>
            <a:off x="971668" y="2806877"/>
            <a:ext cx="49467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Access to therapy can be difficult – distance, time and limited availability can become barriers.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07735-0BD6-A5E9-AF54-88F078127971}"/>
              </a:ext>
            </a:extLst>
          </p:cNvPr>
          <p:cNvSpPr txBox="1"/>
          <p:nvPr/>
        </p:nvSpPr>
        <p:spPr>
          <a:xfrm>
            <a:off x="6679479" y="2806875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Remote therapy connection allows patients to stay connected with verified therapists beyond physical boundaries.</a:t>
            </a: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741079FA-6B4E-E77A-ADD8-FEC1ED52E5CF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7FFBB-43BB-1730-51F8-2443C7DE4FA4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68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A0282-8E07-9047-53A3-C752C66E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6009D3-C271-90EC-27C3-171C30EC65EF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A54A07-3348-9D72-D262-691D3C8884F7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EA795DA-9E0E-EE2F-E52F-30B6AEC943AC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EB5D78C-1959-C84A-10D8-0490D84FB7EC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BF06B4-F346-08CE-933B-082E3C8BF29C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C31A073-F6AD-F475-3542-303FEBB1F8F2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2896817-3454-B6DE-CF12-2178B70B1BAE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06E0A30A-B907-A78C-D6C8-92EB5173E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110DA8-E72D-D070-4638-3CC9A935BF25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CD683-4609-4649-C803-416C5BD86415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A92831-BA49-3423-9B7D-6CA8E4FE1A5F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415F6-2ADF-1113-B85D-6017C7419585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43BA1-B1D1-6320-7503-8E62B10A0BAD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04EF58-525B-44A6-E323-474E6B9B23DA}"/>
              </a:ext>
            </a:extLst>
          </p:cNvPr>
          <p:cNvSpPr txBox="1"/>
          <p:nvPr/>
        </p:nvSpPr>
        <p:spPr>
          <a:xfrm>
            <a:off x="971669" y="1886726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gap between therapy sessions -</a:t>
            </a:r>
          </a:p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may not see what happens in a patients daily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F172B-E4F8-360A-04C7-6024EB07869B}"/>
              </a:ext>
            </a:extLst>
          </p:cNvPr>
          <p:cNvSpPr txBox="1"/>
          <p:nvPr/>
        </p:nvSpPr>
        <p:spPr>
          <a:xfrm>
            <a:off x="6679480" y="1886725"/>
            <a:ext cx="51767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Continuous visibility through daily journals, mood, sleep, exercises and weekly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ACF15-C065-38E6-516B-18F967ACC93C}"/>
              </a:ext>
            </a:extLst>
          </p:cNvPr>
          <p:cNvSpPr txBox="1"/>
          <p:nvPr/>
        </p:nvSpPr>
        <p:spPr>
          <a:xfrm>
            <a:off x="971668" y="2806877"/>
            <a:ext cx="49467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Access to therapy can be difficult – distance, time and limited availability can become barriers.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4A204-0618-301E-9427-357FA503D9F5}"/>
              </a:ext>
            </a:extLst>
          </p:cNvPr>
          <p:cNvSpPr txBox="1"/>
          <p:nvPr/>
        </p:nvSpPr>
        <p:spPr>
          <a:xfrm>
            <a:off x="6679479" y="2806875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Remote therapy connection allows patients to stay connected with verified therapists beyond physical boundaries.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9160D-0B37-9613-A5FF-31384584C177}"/>
              </a:ext>
            </a:extLst>
          </p:cNvPr>
          <p:cNvSpPr txBox="1"/>
          <p:nvPr/>
        </p:nvSpPr>
        <p:spPr>
          <a:xfrm>
            <a:off x="971667" y="375578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Mental-health stigma can prevent people from seeking help.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05DE57-3B23-AB7D-DDE7-88169A4AAAA8}"/>
              </a:ext>
            </a:extLst>
          </p:cNvPr>
          <p:cNvSpPr txBox="1"/>
          <p:nvPr/>
        </p:nvSpPr>
        <p:spPr>
          <a:xfrm>
            <a:off x="6679478" y="375578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private low-barrier digital space lets users begin tracking and seeking support more comfortably.</a:t>
            </a: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548A5030-F419-BC0E-EE75-16E6F8A91C17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B3B2C8-B349-496B-6BE5-5757E9E40EF6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417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373C-9DF8-3FC3-9B32-7C46B0CF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5DCEC9-2D90-03FB-2B17-6842F4D9F1D0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1FE369-705D-8788-9F43-4E1415C7A328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445825-17FD-707D-ECA7-172576E5EC19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31DB14B-2A7A-4DFC-0D5B-2E7820371614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F03FA3-9F85-9DEE-DAAE-7D4D28639FBB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9D4DEF8-7248-31EE-6F8E-46DF1E26FD1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FAF496-EC98-FEFD-CA25-0FF971F8CC5C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7ABA2185-1E8E-2E41-9B92-88BFE4575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F1ABC-3C92-24CB-59DC-65E316A6A564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80EE6-587E-C56E-AF85-F99AAFD3A2DD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031AE4-2C7B-8EBB-C77F-836E165EE57A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70B08-A551-4821-3B97-6C291E3113D3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139ED9-1A8F-8CB5-3039-1104137CC2F6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7DAFFE-D142-9BDF-0EFA-4CB1FFAC53FE}"/>
              </a:ext>
            </a:extLst>
          </p:cNvPr>
          <p:cNvSpPr txBox="1"/>
          <p:nvPr/>
        </p:nvSpPr>
        <p:spPr>
          <a:xfrm>
            <a:off x="971669" y="1886726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gap between therapy sessions -</a:t>
            </a:r>
          </a:p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may not see what happens in a patients daily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349ED-F339-76E1-ECA7-8E3B9051BB3E}"/>
              </a:ext>
            </a:extLst>
          </p:cNvPr>
          <p:cNvSpPr txBox="1"/>
          <p:nvPr/>
        </p:nvSpPr>
        <p:spPr>
          <a:xfrm>
            <a:off x="6679480" y="1886725"/>
            <a:ext cx="51767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Continuous visibility through daily journals, mood, sleep, exercises and weekly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EBD11-8D37-F8E2-C701-1AF6B8240CE3}"/>
              </a:ext>
            </a:extLst>
          </p:cNvPr>
          <p:cNvSpPr txBox="1"/>
          <p:nvPr/>
        </p:nvSpPr>
        <p:spPr>
          <a:xfrm>
            <a:off x="971668" y="2806877"/>
            <a:ext cx="49467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Access to therapy can be difficult – distance, time and limited availability can become barriers.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C181F-1469-7EFB-0100-A15169125B17}"/>
              </a:ext>
            </a:extLst>
          </p:cNvPr>
          <p:cNvSpPr txBox="1"/>
          <p:nvPr/>
        </p:nvSpPr>
        <p:spPr>
          <a:xfrm>
            <a:off x="6679479" y="2806875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Remote therapy connection allows patients to stay connected with verified therapists beyond physical boundaries.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20D7E-065D-876D-7BAF-7C81ED8AD5A0}"/>
              </a:ext>
            </a:extLst>
          </p:cNvPr>
          <p:cNvSpPr txBox="1"/>
          <p:nvPr/>
        </p:nvSpPr>
        <p:spPr>
          <a:xfrm>
            <a:off x="971667" y="375578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Mental-health stigma can prevent people from seeking help.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EB9BF-7E19-34FE-B08F-23959885C454}"/>
              </a:ext>
            </a:extLst>
          </p:cNvPr>
          <p:cNvSpPr txBox="1"/>
          <p:nvPr/>
        </p:nvSpPr>
        <p:spPr>
          <a:xfrm>
            <a:off x="6679478" y="375578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private low-barrier digital space lets users begin tracking and seeking support more comfortably.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6DF07-3D79-C56E-741C-D9DF3C648D0A}"/>
              </a:ext>
            </a:extLst>
          </p:cNvPr>
          <p:cNvSpPr txBox="1"/>
          <p:nvPr/>
        </p:nvSpPr>
        <p:spPr>
          <a:xfrm>
            <a:off x="971666" y="467593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Patients often struggle to maintain consistent self-care and reflection.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D6135-6474-F748-C431-EBB63B6989AA}"/>
              </a:ext>
            </a:extLst>
          </p:cNvPr>
          <p:cNvSpPr txBox="1"/>
          <p:nvPr/>
        </p:nvSpPr>
        <p:spPr>
          <a:xfrm>
            <a:off x="6679477" y="467593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Gentle engagement through guide exercises, journaling, personalized questions and the plant-growth system.</a:t>
            </a: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4EAD2255-5B83-07FA-AAA5-BFAA0817FE77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634F7C-C06B-2CD2-AA75-66CEEB71BD7C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98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934F-F867-42E3-D4B2-CE00D20D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7A2243-E7A0-0BC9-A783-6A3740F856A4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DC03DA-BF75-3DA4-3857-9A0A1A8F142F}"/>
              </a:ext>
            </a:extLst>
          </p:cNvPr>
          <p:cNvGrpSpPr/>
          <p:nvPr/>
        </p:nvGrpSpPr>
        <p:grpSpPr>
          <a:xfrm rot="-1800000">
            <a:off x="10426196" y="5180580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A40B0C4-E0B6-07CB-2E33-3B7A8E1B5B5B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BFDF9D-BD1A-5FEE-775C-56DB04E18601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0D06C7-898F-497A-A56B-69CAA41A6D4E}"/>
              </a:ext>
            </a:extLst>
          </p:cNvPr>
          <p:cNvGrpSpPr/>
          <p:nvPr/>
        </p:nvGrpSpPr>
        <p:grpSpPr>
          <a:xfrm rot="20880000">
            <a:off x="-1576598" y="-1141623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4DB533-5018-BB2D-ABD5-A0BE8F9F3F54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B3F09E-AF13-7611-05CA-C4A773A33AA8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1F366736-A3EE-2F78-8F78-8FB1E51B8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C79A2-88B1-57F9-C99C-726C8B7B22A7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need &amp;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59FC5-CE13-FA6D-7821-F15E811EF05A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5B9149-86B0-C4DC-683E-98B4939255EC}"/>
              </a:ext>
            </a:extLst>
          </p:cNvPr>
          <p:cNvSpPr/>
          <p:nvPr/>
        </p:nvSpPr>
        <p:spPr>
          <a:xfrm>
            <a:off x="6038788" y="1181339"/>
            <a:ext cx="117715" cy="514828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E20E41-CBC7-768B-900E-CC172C4B9A61}"/>
              </a:ext>
            </a:extLst>
          </p:cNvPr>
          <p:cNvSpPr txBox="1"/>
          <p:nvPr/>
        </p:nvSpPr>
        <p:spPr>
          <a:xfrm>
            <a:off x="971669" y="1886726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gap between therapy sessions -</a:t>
            </a:r>
          </a:p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may not see what happens in a patients daily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40131-0AEE-0B1C-CF78-D0ECCF39464B}"/>
              </a:ext>
            </a:extLst>
          </p:cNvPr>
          <p:cNvSpPr txBox="1"/>
          <p:nvPr/>
        </p:nvSpPr>
        <p:spPr>
          <a:xfrm>
            <a:off x="6679480" y="1886725"/>
            <a:ext cx="51767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Continuous visibility through daily journals, mood, sleep, exercises and weekly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78BBB-98EC-60CC-E983-F09B9D694707}"/>
              </a:ext>
            </a:extLst>
          </p:cNvPr>
          <p:cNvSpPr txBox="1"/>
          <p:nvPr/>
        </p:nvSpPr>
        <p:spPr>
          <a:xfrm>
            <a:off x="971668" y="2806877"/>
            <a:ext cx="49467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Access to therapy can be difficult – distance, time and limited availability can become barriers.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46A0A-D55F-647B-B16F-D394C16C75F6}"/>
              </a:ext>
            </a:extLst>
          </p:cNvPr>
          <p:cNvSpPr txBox="1"/>
          <p:nvPr/>
        </p:nvSpPr>
        <p:spPr>
          <a:xfrm>
            <a:off x="6679479" y="2806875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Remote therapy connection allows patients to stay connected with verified therapists beyond physical boundaries.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CDA5F-2BD4-3283-23BE-0EE413E073F3}"/>
              </a:ext>
            </a:extLst>
          </p:cNvPr>
          <p:cNvSpPr txBox="1"/>
          <p:nvPr/>
        </p:nvSpPr>
        <p:spPr>
          <a:xfrm>
            <a:off x="971667" y="375578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Mental-health stigma can prevent people from seeking help.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0D1924-EB99-FA7B-87CB-91B3782A7582}"/>
              </a:ext>
            </a:extLst>
          </p:cNvPr>
          <p:cNvSpPr txBox="1"/>
          <p:nvPr/>
        </p:nvSpPr>
        <p:spPr>
          <a:xfrm>
            <a:off x="6679478" y="375578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private low-barrier digital space lets users begin tracking and seeking support more comfortably.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5D1F66-544D-9084-9EF7-56A381A03F36}"/>
              </a:ext>
            </a:extLst>
          </p:cNvPr>
          <p:cNvSpPr txBox="1"/>
          <p:nvPr/>
        </p:nvSpPr>
        <p:spPr>
          <a:xfrm>
            <a:off x="971666" y="467593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Patients often struggle to maintain consistent self-care and reflection.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FF708-6F98-45CC-2A64-D0EC06E159B6}"/>
              </a:ext>
            </a:extLst>
          </p:cNvPr>
          <p:cNvSpPr txBox="1"/>
          <p:nvPr/>
        </p:nvSpPr>
        <p:spPr>
          <a:xfrm>
            <a:off x="6679477" y="467593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Gentle engagement through guide exercises, journaling, personalized questions and the plant-growth system.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2F9380-4C34-4803-267B-76F84E79BCDA}"/>
              </a:ext>
            </a:extLst>
          </p:cNvPr>
          <p:cNvSpPr txBox="1"/>
          <p:nvPr/>
        </p:nvSpPr>
        <p:spPr>
          <a:xfrm>
            <a:off x="971665" y="5596082"/>
            <a:ext cx="4946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Therapists need meaning., not just isolated session conversations.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DDF851-CCB6-7D03-EA45-C16A27B99990}"/>
              </a:ext>
            </a:extLst>
          </p:cNvPr>
          <p:cNvSpPr txBox="1"/>
          <p:nvPr/>
        </p:nvSpPr>
        <p:spPr>
          <a:xfrm>
            <a:off x="6679476" y="5596080"/>
            <a:ext cx="51767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AI-assisted weekly insights organize patterns so therapists can provide more informed, personalized guidance.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E1A0E-64F8-CE9F-4F8E-815138B1292F}"/>
              </a:ext>
            </a:extLst>
          </p:cNvPr>
          <p:cNvSpPr txBox="1"/>
          <p:nvPr/>
        </p:nvSpPr>
        <p:spPr>
          <a:xfrm>
            <a:off x="1345482" y="1182235"/>
            <a:ext cx="35521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The Need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B2A2F7-F3C3-A8CB-08A6-03AD078CAD15}"/>
              </a:ext>
            </a:extLst>
          </p:cNvPr>
          <p:cNvSpPr txBox="1"/>
          <p:nvPr/>
        </p:nvSpPr>
        <p:spPr>
          <a:xfrm>
            <a:off x="6823255" y="1182234"/>
            <a:ext cx="3882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Calmly's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 impact</a:t>
            </a:r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52441EC7-C2A9-1843-E994-61F7A985C23D}"/>
              </a:ext>
            </a:extLst>
          </p:cNvPr>
          <p:cNvSpPr/>
          <p:nvPr/>
        </p:nvSpPr>
        <p:spPr>
          <a:xfrm>
            <a:off x="1848810" y="6412302"/>
            <a:ext cx="8459755" cy="606489"/>
          </a:xfrm>
          <a:prstGeom prst="round2DiagRect">
            <a:avLst/>
          </a:prstGeom>
          <a:solidFill>
            <a:srgbClr val="F0EF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B9BE3F-5379-4FB4-247F-3AED5049879F}"/>
              </a:ext>
            </a:extLst>
          </p:cNvPr>
          <p:cNvSpPr txBox="1"/>
          <p:nvPr/>
        </p:nvSpPr>
        <p:spPr>
          <a:xfrm>
            <a:off x="1727632" y="6475679"/>
            <a:ext cx="86997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858E6D"/>
                </a:solidFill>
              </a:rPr>
              <a:t>AI turns everyday patient experiences into personalized insights and better human guidance</a:t>
            </a:r>
            <a:endParaRPr lang="en-US" b="1">
              <a:solidFill>
                <a:srgbClr val="858E6D"/>
              </a:solidFill>
            </a:endParaRPr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AEB016BE-A82F-8E9D-C9B4-BC4AEFB2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E4500A-F1FD-AE25-2D1E-480858F829A9}"/>
              </a:ext>
            </a:extLst>
          </p:cNvPr>
          <p:cNvSpPr/>
          <p:nvPr/>
        </p:nvSpPr>
        <p:spPr>
          <a:xfrm rot="5400000">
            <a:off x="-2724213" y="-680528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8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A0C1-7706-0D94-D73C-17BAD7D5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F1D82F-63D5-54B3-B325-D48837C6DA56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B30320-551B-0A84-FFDD-C118320D3C7A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5538550-04D2-A23F-9C10-DC6BA750DD1F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BBA8A0-A413-0DCD-956D-FD7CED0B40C1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8D06C6-BD55-3E69-9B4D-96202D7DB476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2BC5AF-0240-DF28-E251-C307EF4F589D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BC8FA36-F906-BBDC-E9A8-7B9A7C8D2582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C8F1E118-6B52-8067-44E7-7A1C793E3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8AFAC-F5D0-7830-4FFA-79F18CAA4C5E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074518-E591-EC2C-BCB4-914D951652D6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FB2CDE-AB35-7D64-6C9E-333C6A387B57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137D05BD-9A1B-81C4-3BC3-8F231E0F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C1D087E-773C-9B62-ED37-925AE6C9697E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73CF9D-1E9F-E384-CF8E-6AE08EB1CEE3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5743C5-036F-BD49-36D0-15C00185E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9DDB043-32D1-5AA2-457F-838DEB4AA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7096304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1C0B753-E754-3D4F-6235-55B84AFF9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7" y="7101067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22E27F4-1D4E-B8D0-43A7-371EE786F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602" y="7090285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7276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B308-4CBD-2A67-05BB-4E568D5B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9FD68-ECD1-7BF6-4EEC-EA18C33FE60F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4679F2-D59E-D9E1-266D-28D4B8AB9418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C250B2-292D-651C-8179-4D7A2532FA54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6FB82E-A969-6417-27AA-EBE32D59D432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7A5932-691E-E979-AB24-A75F1E05E366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A65D08-1820-10B3-35B7-691B8A626FF4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2C81DD-A8D2-0CB4-A17F-5259F28AE628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FC03D13C-BF77-2949-EAC7-C2D518A32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4958D-C99D-EC7A-37E7-66BB5C332F61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A38F89-6B1C-D121-A29C-18B2EF636D10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A5186E29-06BE-836A-8A27-C78C7BED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BBB82F-0B25-2C3C-6A6A-CF5629F338F1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317073-A38D-31D9-C1A8-B95A4D3EF026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090F1B5-777A-EEC6-3339-3CACB36F0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BE3124-9B0C-D79D-2A3D-47BA276B2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9E9FEC2-94B7-1B2D-94D2-3F6351194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7" y="7101067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05A32C-0EAD-AFEB-7BE1-299EB277A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602" y="7090285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780E61-2162-A15A-C8C2-6E15C1B9A55E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9DFA1-6B46-1F6B-5FFB-34F8D694DDD2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Weekly quizzes that adapt to the person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A7708-D8ED-B8B6-6B31-A9620D9C62A9}"/>
              </a:ext>
            </a:extLst>
          </p:cNvPr>
          <p:cNvSpPr txBox="1"/>
          <p:nvPr/>
        </p:nvSpPr>
        <p:spPr>
          <a:xfrm>
            <a:off x="3390122" y="2814734"/>
            <a:ext cx="2942664" cy="3664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Past 6 quiz weeks scored per dimension, recency-weighted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LLM also re-reads recent journals to score the same dimensions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Combined rank = 60% quiz + 40% journal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Top 3 weakest dimensions triggers fresh AI-written questions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No repeats inside a two week window</a:t>
            </a:r>
          </a:p>
        </p:txBody>
      </p:sp>
    </p:spTree>
    <p:extLst>
      <p:ext uri="{BB962C8B-B14F-4D97-AF65-F5344CB8AC3E}">
        <p14:creationId xmlns:p14="http://schemas.microsoft.com/office/powerpoint/2010/main" val="1238888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3054-777A-7DB3-6D6B-6C5FA391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C185E2-7EEE-62DD-C779-023D458EDF6C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ED5090-0AB1-749C-BCBF-2CF7ACD2F0B1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017B9B-2CA6-E4CD-D455-E05666FBC733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282E77-9A4E-DE7F-27FA-D0A0C62DAA00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250E62-A63C-1F5A-F2E2-5991F78ED591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F12EED1-97BD-D9AA-EB98-D03BA41E5565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419896E-5847-5FBE-E04D-5118123164C8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59A84EB2-4ADC-7F8E-E64F-6708C8AB8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1DAB16-0F98-3C6B-836D-AC4BAA48DEF1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81EEB0-0CD6-E190-4EA3-6F80491C381F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9B3B5899-8DB3-5502-299E-7BA4DB819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82A6A5-0402-12B8-C04E-B0A024DB6346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079F83-1151-C6D8-41DB-FEB0552F8DE9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F631D6F-2BFB-9BAD-CBCE-5441C2AEF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283DD8-1E29-FCDC-698B-85BE6C3A6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C4FBCA4-CEB3-473D-3CBA-6C0216B45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7" y="7101067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FC22C8E-FDC8-F635-7758-4BD08C1A5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602" y="7090285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8838A5-A839-549D-4726-8D8D36A50AD4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3C9A8-6D33-D442-67E0-4FE7987EB144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Weekly quizzes that adapt to the person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939C6-F0AE-BDCE-267B-3F955BC85968}"/>
              </a:ext>
            </a:extLst>
          </p:cNvPr>
          <p:cNvSpPr txBox="1"/>
          <p:nvPr/>
        </p:nvSpPr>
        <p:spPr>
          <a:xfrm>
            <a:off x="3390122" y="2814734"/>
            <a:ext cx="2942664" cy="3664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Past 6 quiz weeks scored per dimension, recency-weighted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LLM also re-reads recent journals to score the same dimensions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Combined rank = 60% quiz + 40% journal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Top 3 weakest dimensions triggers fresh AI-written questions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No repeats inside a two week window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626A7-1524-AE53-D1E1-9FD369446B5E}"/>
              </a:ext>
            </a:extLst>
          </p:cNvPr>
          <p:cNvSpPr/>
          <p:nvPr/>
        </p:nvSpPr>
        <p:spPr>
          <a:xfrm>
            <a:off x="6811346" y="2080316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DF632-A825-EB53-5325-41B7B76BA3F8}"/>
              </a:ext>
            </a:extLst>
          </p:cNvPr>
          <p:cNvSpPr/>
          <p:nvPr/>
        </p:nvSpPr>
        <p:spPr>
          <a:xfrm>
            <a:off x="9514289" y="2080315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7AEB3E-7929-6655-9FB6-356C348777D9}"/>
              </a:ext>
            </a:extLst>
          </p:cNvPr>
          <p:cNvSpPr/>
          <p:nvPr/>
        </p:nvSpPr>
        <p:spPr>
          <a:xfrm>
            <a:off x="8177195" y="3158618"/>
            <a:ext cx="1955907" cy="796915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4A86F-C6CB-5D5B-A205-539AC0E0B0B6}"/>
              </a:ext>
            </a:extLst>
          </p:cNvPr>
          <p:cNvSpPr/>
          <p:nvPr/>
        </p:nvSpPr>
        <p:spPr>
          <a:xfrm>
            <a:off x="9428025" y="4495711"/>
            <a:ext cx="1955907" cy="796915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2CE755-C910-F489-B18F-BD995D1A129C}"/>
              </a:ext>
            </a:extLst>
          </p:cNvPr>
          <p:cNvSpPr/>
          <p:nvPr/>
        </p:nvSpPr>
        <p:spPr>
          <a:xfrm>
            <a:off x="8177195" y="5689033"/>
            <a:ext cx="1955907" cy="796915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C4EC46A-CCBB-2A1D-EF25-565A8F213339}"/>
              </a:ext>
            </a:extLst>
          </p:cNvPr>
          <p:cNvCxnSpPr/>
          <p:nvPr/>
        </p:nvCxnSpPr>
        <p:spPr>
          <a:xfrm>
            <a:off x="7371183" y="2689152"/>
            <a:ext cx="799382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5F14983-6066-BD47-9130-51DD8AD7EDCD}"/>
              </a:ext>
            </a:extLst>
          </p:cNvPr>
          <p:cNvCxnSpPr>
            <a:cxnSpLocks/>
          </p:cNvCxnSpPr>
          <p:nvPr/>
        </p:nvCxnSpPr>
        <p:spPr>
          <a:xfrm flipH="1">
            <a:off x="10140262" y="2689152"/>
            <a:ext cx="782127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45154B-8D1D-6002-0525-0C83C85D6CAA}"/>
              </a:ext>
            </a:extLst>
          </p:cNvPr>
          <p:cNvCxnSpPr/>
          <p:nvPr/>
        </p:nvCxnSpPr>
        <p:spPr>
          <a:xfrm>
            <a:off x="9703837" y="3965510"/>
            <a:ext cx="435428" cy="497632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9C7279-76AD-AA84-0C3C-7E4952AD71A0}"/>
              </a:ext>
            </a:extLst>
          </p:cNvPr>
          <p:cNvCxnSpPr/>
          <p:nvPr/>
        </p:nvCxnSpPr>
        <p:spPr>
          <a:xfrm flipH="1">
            <a:off x="9688286" y="5302898"/>
            <a:ext cx="466530" cy="404326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26C4FA-2B7B-3908-C53F-C9005CF8F1C7}"/>
              </a:ext>
            </a:extLst>
          </p:cNvPr>
          <p:cNvCxnSpPr/>
          <p:nvPr/>
        </p:nvCxnSpPr>
        <p:spPr>
          <a:xfrm flipH="1">
            <a:off x="8003025" y="4259806"/>
            <a:ext cx="20128" cy="1086928"/>
          </a:xfrm>
          <a:prstGeom prst="straightConnector1">
            <a:avLst/>
          </a:prstGeom>
          <a:ln>
            <a:solidFill>
              <a:srgbClr val="858E6D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F1900E-B36B-A245-A897-DE74ACA245E7}"/>
              </a:ext>
            </a:extLst>
          </p:cNvPr>
          <p:cNvCxnSpPr/>
          <p:nvPr/>
        </p:nvCxnSpPr>
        <p:spPr>
          <a:xfrm flipH="1">
            <a:off x="8000090" y="3934408"/>
            <a:ext cx="393939" cy="324930"/>
          </a:xfrm>
          <a:prstGeom prst="straightConnector1">
            <a:avLst/>
          </a:prstGeom>
          <a:ln>
            <a:solidFill>
              <a:srgbClr val="858E6D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1D1DC7-E2A1-2B2F-1062-A4AEC30E908D}"/>
              </a:ext>
            </a:extLst>
          </p:cNvPr>
          <p:cNvCxnSpPr>
            <a:cxnSpLocks/>
          </p:cNvCxnSpPr>
          <p:nvPr/>
        </p:nvCxnSpPr>
        <p:spPr>
          <a:xfrm>
            <a:off x="8007308" y="5345736"/>
            <a:ext cx="262900" cy="368236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63C0746-9D36-FEA8-2B91-D6F2B64B395F}"/>
              </a:ext>
            </a:extLst>
          </p:cNvPr>
          <p:cNvSpPr txBox="1"/>
          <p:nvPr/>
        </p:nvSpPr>
        <p:spPr>
          <a:xfrm>
            <a:off x="6879420" y="2201204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Journal entries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43E72B-6FB8-B9FE-9FFF-ADE74006E74C}"/>
              </a:ext>
            </a:extLst>
          </p:cNvPr>
          <p:cNvSpPr txBox="1"/>
          <p:nvPr/>
        </p:nvSpPr>
        <p:spPr>
          <a:xfrm>
            <a:off x="9524853" y="2201203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Past quiz score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DE7017-5423-9D48-E491-F58CCAE10C3F}"/>
              </a:ext>
            </a:extLst>
          </p:cNvPr>
          <p:cNvSpPr txBox="1"/>
          <p:nvPr/>
        </p:nvSpPr>
        <p:spPr>
          <a:xfrm>
            <a:off x="8173382" y="3221995"/>
            <a:ext cx="2017523" cy="6607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692A61"/>
                </a:solidFill>
              </a:rPr>
              <a:t>Dimension struggle ranking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0AD2AA-BDBC-2603-E3DE-73252EC85F9E}"/>
              </a:ext>
            </a:extLst>
          </p:cNvPr>
          <p:cNvSpPr txBox="1"/>
          <p:nvPr/>
        </p:nvSpPr>
        <p:spPr>
          <a:xfrm>
            <a:off x="9510476" y="4573468"/>
            <a:ext cx="17587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692A61"/>
                </a:solidFill>
              </a:rPr>
              <a:t>LLM writes new questions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F26AA4-DE01-B0E4-AFFD-CB6A2194608D}"/>
              </a:ext>
            </a:extLst>
          </p:cNvPr>
          <p:cNvSpPr txBox="1"/>
          <p:nvPr/>
        </p:nvSpPr>
        <p:spPr>
          <a:xfrm>
            <a:off x="8159005" y="5623015"/>
            <a:ext cx="19456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692A61"/>
                </a:solidFill>
              </a:rPr>
              <a:t>5-question weekly quiz prepared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BCA5A7-B618-D48A-D7B8-D7705BA3C0FF}"/>
              </a:ext>
            </a:extLst>
          </p:cNvPr>
          <p:cNvSpPr txBox="1"/>
          <p:nvPr/>
        </p:nvSpPr>
        <p:spPr>
          <a:xfrm>
            <a:off x="7184571" y="2845836"/>
            <a:ext cx="10885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0.4 weight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6ED731-061B-3E03-290A-B2CED2DC1F8E}"/>
              </a:ext>
            </a:extLst>
          </p:cNvPr>
          <p:cNvSpPr txBox="1"/>
          <p:nvPr/>
        </p:nvSpPr>
        <p:spPr>
          <a:xfrm>
            <a:off x="10117552" y="2845835"/>
            <a:ext cx="10885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0.6 weight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6FDB0-ECCB-91FF-AEC9-39923C08FEA0}"/>
              </a:ext>
            </a:extLst>
          </p:cNvPr>
          <p:cNvSpPr txBox="1"/>
          <p:nvPr/>
        </p:nvSpPr>
        <p:spPr>
          <a:xfrm>
            <a:off x="9499325" y="4096666"/>
            <a:ext cx="143362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Weakest dims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616ECE-A34B-B003-BC1E-0F391AF98C9F}"/>
              </a:ext>
            </a:extLst>
          </p:cNvPr>
          <p:cNvSpPr txBox="1"/>
          <p:nvPr/>
        </p:nvSpPr>
        <p:spPr>
          <a:xfrm>
            <a:off x="7227703" y="4801155"/>
            <a:ext cx="18218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2-week exclusion</a:t>
            </a:r>
          </a:p>
        </p:txBody>
      </p:sp>
    </p:spTree>
    <p:extLst>
      <p:ext uri="{BB962C8B-B14F-4D97-AF65-F5344CB8AC3E}">
        <p14:creationId xmlns:p14="http://schemas.microsoft.com/office/powerpoint/2010/main" val="2001645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3CFC-6E97-C0D2-B85E-BF177746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76EE0-E98F-4AF8-C2A0-12E44D4A88BE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D93173-661F-2E89-AB36-371BB8A53883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97F418B-120D-6B9B-EF57-EE0FF53DA152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887DAB-1E89-7FDD-E1CA-4647272867DC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2AC2DE-B145-8D04-6DA2-9CC221D945BD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E02DA4-F300-23BE-8F16-6EDBA05C612C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A40A58A-1A39-FD56-C681-06647F81C29B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1A9E276D-03C9-8066-BD0C-796602E6D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84E179-E9BA-DE10-582F-323B6E164FE0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34262-93BE-D707-AF63-36B3A2130C40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DC393992-57C0-F35A-32C4-B8B37E54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8847A40-05DE-D183-801C-AD4930D97DC3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D73061B-A352-2BAA-7B60-539589194640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BE2E09-0983-973C-F43D-E8A4BCD5E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1B0E8D-62EB-6651-ABE4-221C5DE6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3D290F-A4C1-6F4E-4F4D-E261C773D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7" y="7101067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28B5AC4-9F91-00D8-2581-D70C823E6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FC765C-D895-5B99-3CD4-C146D3824229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EA9DA-CF15-206E-FC32-8EF41669827E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A journal that judges growth - honestly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FC819-052A-A878-D365-EFE7D090F54A}"/>
              </a:ext>
            </a:extLst>
          </p:cNvPr>
          <p:cNvSpPr txBox="1"/>
          <p:nvPr/>
        </p:nvSpPr>
        <p:spPr>
          <a:xfrm>
            <a:off x="3390122" y="2742847"/>
            <a:ext cx="3201456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The LLM as a strict gate-keeper </a:t>
            </a:r>
            <a:endParaRPr lang="en-US" sz="190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      </a:t>
            </a:r>
            <a:r>
              <a:rPr lang="en-US" dirty="0">
                <a:solidFill>
                  <a:schemeClr val="bg2"/>
                </a:solidFill>
              </a:rPr>
              <a:t>With 7+ entries of history , the LLM compares today's writing against recent pattern –more positive attitude? Better trigger awareness? When in doubt, no bonus</a:t>
            </a:r>
          </a:p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Why this matters</a:t>
            </a:r>
          </a:p>
          <a:p>
            <a:r>
              <a:rPr lang="en-US" sz="1900" b="1" dirty="0">
                <a:solidFill>
                  <a:schemeClr val="bg2"/>
                </a:solidFill>
              </a:rPr>
              <a:t>    -</a:t>
            </a:r>
            <a:r>
              <a:rPr lang="en-US" dirty="0">
                <a:solidFill>
                  <a:schemeClr val="bg2"/>
                </a:solidFill>
              </a:rPr>
              <a:t> Anti-gaming</a:t>
            </a:r>
          </a:p>
          <a:p>
            <a:r>
              <a:rPr lang="en-US" dirty="0">
                <a:solidFill>
                  <a:schemeClr val="bg2"/>
                </a:solidFill>
              </a:rPr>
              <a:t>    - Rewards genuine refection</a:t>
            </a:r>
          </a:p>
          <a:p>
            <a:r>
              <a:rPr lang="en-US" dirty="0">
                <a:solidFill>
                  <a:schemeClr val="bg2"/>
                </a:solidFill>
              </a:rPr>
              <a:t>    - Plant become an honest</a:t>
            </a:r>
          </a:p>
          <a:p>
            <a:r>
              <a:rPr lang="en-US" dirty="0">
                <a:solidFill>
                  <a:schemeClr val="bg2"/>
                </a:solidFill>
              </a:rPr>
              <a:t>       visual mental-health</a:t>
            </a:r>
          </a:p>
          <a:p>
            <a:r>
              <a:rPr lang="en-US" dirty="0">
                <a:solidFill>
                  <a:schemeClr val="bg2"/>
                </a:solidFill>
              </a:rPr>
              <a:t>      timeline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64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655F-F9F2-C80C-EF0C-F5A26408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30DFC1-4A79-161F-A89E-B0178025B511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5A7A6-2E27-147E-7EAE-C81BE206D90E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918CDE8-F85F-B10C-6EFD-2F1FE1F278ED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761D44-E453-6B02-CFAD-AB36D6B1F0A7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E6182-E152-0535-74A0-3EE3B299D64A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D733E-6C9C-FE71-5910-18F32C4F9C9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A5A4FF-F317-E35D-C619-6865B8AD3E5D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FC9C3D2D-5B67-3589-4995-A4EBF71C8D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CE0CED-A890-6B50-CC32-8B36BABACADA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88E7D-5AD8-19A2-B75B-BC2A40568ADF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10870D7D-7E7B-12DD-CCCC-AB7816C6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B0637-2A48-CE86-E43C-034F31C21ADE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A988FC-4E39-6A56-0FF7-1D1FB18EF01C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10DC910-FD10-E05D-C246-7ABD8316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0392DC-93E9-5F8C-FDC8-A0799B32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369164-C091-296F-D148-8593FCBF7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90" y="7086690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37D8A5-13D3-E469-A13F-C9072E005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3E5D0-BA01-F38A-E157-E54D051F06D9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5E1DA-B8E2-2DB2-AA3C-31CBC45CF99F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A journal that judges growth - honestly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5C2811-C6CC-9AB4-EC25-DEAA45B649CB}"/>
              </a:ext>
            </a:extLst>
          </p:cNvPr>
          <p:cNvSpPr txBox="1"/>
          <p:nvPr/>
        </p:nvSpPr>
        <p:spPr>
          <a:xfrm>
            <a:off x="3390122" y="2742847"/>
            <a:ext cx="3201456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The LLM as a strict gate-keeper </a:t>
            </a:r>
            <a:endParaRPr lang="en-US" sz="190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      </a:t>
            </a:r>
            <a:r>
              <a:rPr lang="en-US" dirty="0">
                <a:solidFill>
                  <a:schemeClr val="bg2"/>
                </a:solidFill>
              </a:rPr>
              <a:t>With 7+ entries of history , the LLM compares today's writing against recent pattern –more positive attitude? Better trigger awareness? When in doubt, no bonus</a:t>
            </a:r>
          </a:p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Why this matters</a:t>
            </a:r>
          </a:p>
          <a:p>
            <a:r>
              <a:rPr lang="en-US" sz="1900" b="1" dirty="0">
                <a:solidFill>
                  <a:schemeClr val="bg2"/>
                </a:solidFill>
              </a:rPr>
              <a:t>    -</a:t>
            </a:r>
            <a:r>
              <a:rPr lang="en-US" dirty="0">
                <a:solidFill>
                  <a:schemeClr val="bg2"/>
                </a:solidFill>
              </a:rPr>
              <a:t> Anti-gaming</a:t>
            </a:r>
          </a:p>
          <a:p>
            <a:r>
              <a:rPr lang="en-US" dirty="0">
                <a:solidFill>
                  <a:schemeClr val="bg2"/>
                </a:solidFill>
              </a:rPr>
              <a:t>    - Rewards genuine refection</a:t>
            </a:r>
          </a:p>
          <a:p>
            <a:r>
              <a:rPr lang="en-US" dirty="0">
                <a:solidFill>
                  <a:schemeClr val="bg2"/>
                </a:solidFill>
              </a:rPr>
              <a:t>    - Plant become an honest</a:t>
            </a:r>
          </a:p>
          <a:p>
            <a:r>
              <a:rPr lang="en-US" dirty="0">
                <a:solidFill>
                  <a:schemeClr val="bg2"/>
                </a:solidFill>
              </a:rPr>
              <a:t>       visual mental-health</a:t>
            </a:r>
          </a:p>
          <a:p>
            <a:r>
              <a:rPr lang="en-US" dirty="0">
                <a:solidFill>
                  <a:schemeClr val="bg2"/>
                </a:solidFill>
              </a:rPr>
              <a:t>      timeline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A3BF3-3228-3648-76A5-6AB0ABA43BFF}"/>
              </a:ext>
            </a:extLst>
          </p:cNvPr>
          <p:cNvSpPr/>
          <p:nvPr/>
        </p:nvSpPr>
        <p:spPr>
          <a:xfrm>
            <a:off x="6811346" y="2080316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E5B323-687A-6D0B-4E4F-0CE628962AA4}"/>
              </a:ext>
            </a:extLst>
          </p:cNvPr>
          <p:cNvSpPr/>
          <p:nvPr/>
        </p:nvSpPr>
        <p:spPr>
          <a:xfrm>
            <a:off x="9514289" y="2080315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0B9927-E3D6-1FB4-7E2B-915611C8CA94}"/>
              </a:ext>
            </a:extLst>
          </p:cNvPr>
          <p:cNvSpPr/>
          <p:nvPr/>
        </p:nvSpPr>
        <p:spPr>
          <a:xfrm>
            <a:off x="8177195" y="3158618"/>
            <a:ext cx="1955907" cy="796915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E395113D-EF13-2CE5-069B-E1648BA8F2F5}"/>
              </a:ext>
            </a:extLst>
          </p:cNvPr>
          <p:cNvCxnSpPr/>
          <p:nvPr/>
        </p:nvCxnSpPr>
        <p:spPr>
          <a:xfrm>
            <a:off x="7371183" y="2689152"/>
            <a:ext cx="799382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20E3B64A-2F64-BBB4-D286-A94CC9683CF6}"/>
              </a:ext>
            </a:extLst>
          </p:cNvPr>
          <p:cNvCxnSpPr>
            <a:cxnSpLocks/>
          </p:cNvCxnSpPr>
          <p:nvPr/>
        </p:nvCxnSpPr>
        <p:spPr>
          <a:xfrm flipH="1">
            <a:off x="10140262" y="2689152"/>
            <a:ext cx="782127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8CC681-33B8-FE49-F3A4-F7EECFD0038E}"/>
              </a:ext>
            </a:extLst>
          </p:cNvPr>
          <p:cNvCxnSpPr/>
          <p:nvPr/>
        </p:nvCxnSpPr>
        <p:spPr>
          <a:xfrm>
            <a:off x="8381120" y="3951133"/>
            <a:ext cx="18485" cy="1000839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87413B1-9B0D-D464-226D-FD2A94C36C77}"/>
              </a:ext>
            </a:extLst>
          </p:cNvPr>
          <p:cNvSpPr txBox="1"/>
          <p:nvPr/>
        </p:nvSpPr>
        <p:spPr>
          <a:xfrm>
            <a:off x="6879420" y="2201204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Feelings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8D690C-8286-370E-6006-96921B02B2F1}"/>
              </a:ext>
            </a:extLst>
          </p:cNvPr>
          <p:cNvSpPr txBox="1"/>
          <p:nvPr/>
        </p:nvSpPr>
        <p:spPr>
          <a:xfrm>
            <a:off x="9524853" y="2201203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Reflection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31C1FA-4B8B-0488-491E-3813B4A7F1B1}"/>
              </a:ext>
            </a:extLst>
          </p:cNvPr>
          <p:cNvSpPr txBox="1"/>
          <p:nvPr/>
        </p:nvSpPr>
        <p:spPr>
          <a:xfrm>
            <a:off x="8173382" y="3221995"/>
            <a:ext cx="20175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692A61"/>
                </a:solidFill>
              </a:rPr>
              <a:t>LLM compares past 7 day entries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9C2E1B-3BE2-A99A-66B0-056360E1A15C}"/>
              </a:ext>
            </a:extLst>
          </p:cNvPr>
          <p:cNvSpPr/>
          <p:nvPr/>
        </p:nvSpPr>
        <p:spPr>
          <a:xfrm>
            <a:off x="7558968" y="4970165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B569D3-D1FA-AF76-6116-1F0EEF5F6640}"/>
              </a:ext>
            </a:extLst>
          </p:cNvPr>
          <p:cNvSpPr txBox="1"/>
          <p:nvPr/>
        </p:nvSpPr>
        <p:spPr>
          <a:xfrm>
            <a:off x="7770815" y="5091053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Plant grows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00D92E-264D-B8A4-C2DE-02E20664C87F}"/>
              </a:ext>
            </a:extLst>
          </p:cNvPr>
          <p:cNvSpPr txBox="1"/>
          <p:nvPr/>
        </p:nvSpPr>
        <p:spPr>
          <a:xfrm>
            <a:off x="7702156" y="4283571"/>
            <a:ext cx="143362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improvement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D3AA493-A216-BAA7-2D3F-E05A73C5CE86}"/>
              </a:ext>
            </a:extLst>
          </p:cNvPr>
          <p:cNvCxnSpPr>
            <a:cxnSpLocks/>
          </p:cNvCxnSpPr>
          <p:nvPr/>
        </p:nvCxnSpPr>
        <p:spPr>
          <a:xfrm>
            <a:off x="9933874" y="3951132"/>
            <a:ext cx="18485" cy="1000839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A3F0FE4-4578-CCAA-86E3-0DE715586E48}"/>
              </a:ext>
            </a:extLst>
          </p:cNvPr>
          <p:cNvSpPr txBox="1"/>
          <p:nvPr/>
        </p:nvSpPr>
        <p:spPr>
          <a:xfrm>
            <a:off x="9183023" y="4283570"/>
            <a:ext cx="22675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accent5">
                    <a:lumMod val="76000"/>
                  </a:schemeClr>
                </a:solidFill>
                <a:highlight>
                  <a:srgbClr val="C0C0C0"/>
                </a:highlight>
              </a:rPr>
              <a:t>No positive feedback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4C9B58-CE37-9917-E986-94BA0674D26C}"/>
              </a:ext>
            </a:extLst>
          </p:cNvPr>
          <p:cNvSpPr/>
          <p:nvPr/>
        </p:nvSpPr>
        <p:spPr>
          <a:xfrm>
            <a:off x="9672439" y="4970164"/>
            <a:ext cx="1769002" cy="610010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B04C3F-F863-62C8-2905-B81BCEF0D1F9}"/>
              </a:ext>
            </a:extLst>
          </p:cNvPr>
          <p:cNvSpPr txBox="1"/>
          <p:nvPr/>
        </p:nvSpPr>
        <p:spPr>
          <a:xfrm>
            <a:off x="9596739" y="5047920"/>
            <a:ext cx="1873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Returns no score</a:t>
            </a:r>
          </a:p>
        </p:txBody>
      </p:sp>
    </p:spTree>
    <p:extLst>
      <p:ext uri="{BB962C8B-B14F-4D97-AF65-F5344CB8AC3E}">
        <p14:creationId xmlns:p14="http://schemas.microsoft.com/office/powerpoint/2010/main" val="2660581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B5EA-DF7C-BBA8-5407-65CD8662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BAA712-114F-F6B2-1364-18462F5B0457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697986-0A18-7D92-9673-DCDC5D5C5508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524BEF5-5C24-D27A-90D9-F8D656C4305C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AFD4A5-4628-758F-06C8-4B23B38DA67D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FFD1C3-73F8-19C2-451F-83BA609192B7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A9356B-69AD-21DD-F2D5-184B1901CF2A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6D032E-7ADB-0C16-A418-7012FCABBC8D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3C8E0994-8177-FD6C-8A8E-F14D45D09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7297D8-6F72-CD73-9CDC-535B96F67EA9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52BCCE-3595-C528-5596-D89B4F03C7A3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D5E7188F-B9DA-E078-13AA-B7B945254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EE68D43-E16F-FB70-83E4-EBE30C798604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79D80D7-0A69-DD62-F7D1-705E5ECBE1E5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DFB8EED-23FF-F7C4-D803-3FE3FD37E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95" y="7091543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5E322C-FDE1-40EB-6925-A0C23171A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6F597B-B119-EF0F-3774-4FC02B550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D1B1BB-066F-26E1-082D-0CEA1945FFF8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480A7-4154-6BF1-2FF4-35779DF25C3F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A plant that symbolizes mental growth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90661B-256B-E29B-CDD1-B40B3D52265F}"/>
              </a:ext>
            </a:extLst>
          </p:cNvPr>
          <p:cNvSpPr txBox="1"/>
          <p:nvPr/>
        </p:nvSpPr>
        <p:spPr>
          <a:xfrm>
            <a:off x="3390122" y="2742847"/>
            <a:ext cx="3201456" cy="26007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Throughout the week , calmly notices the positive changes and efforts. Which are visually represented as your calmly companion- a plant that grows with you.</a:t>
            </a: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Keeps the patient motivated and consistent.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7A2E75B-604A-E462-57D4-34EDCCF9E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7" y="1939596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0336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CFCC-13D4-8CB9-B0CA-DFACDB85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DEF297-8BB4-5AF8-1345-1A2E4082D0E2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EFBD6D-DF30-FA2E-1500-0877A2359191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A486AD0-BE6E-9530-48D3-BB7BDEED24B1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9E1DE4-268E-2C02-5F1A-3B0800C84D14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09E431-FA0E-D079-84DE-F792B2A7E538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92007F-61B9-4EE3-DA65-852924FC952E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E938FC-F2FD-9237-8F89-17D1CEDEA7F9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3686AE60-F4F3-7CC2-CC89-E8029F7C2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852B8B-3F76-2F99-7A0F-ADA5265E3C84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2A7A43-E44D-A454-9A8A-E99C0450E155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C09ADF97-D0FC-F4F6-65FD-5D634C31C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707AD5-2071-32BC-3A7A-4DA494C891F6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C6F8E95-57C2-0557-BDA7-CB0651F369CB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09E27BD-6D97-ABD3-DD16-87E39C9C3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723" y="6976524"/>
            <a:ext cx="2141688" cy="452185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7ABB7C2-0133-4E5D-07D9-038150FCF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81AB01-F886-1D52-DEFB-143071A46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931B11-581E-5C7C-C32B-D63C769787ED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61118-F79C-C9F2-E010-C493A43B1665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A plant that symbolizes mental growth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898683-7FB2-F1A3-2E16-4B956BC2169F}"/>
              </a:ext>
            </a:extLst>
          </p:cNvPr>
          <p:cNvSpPr txBox="1"/>
          <p:nvPr/>
        </p:nvSpPr>
        <p:spPr>
          <a:xfrm>
            <a:off x="3390122" y="2742847"/>
            <a:ext cx="3201456" cy="26007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Throughout the week , calmly notices the positive changes and efforts. Which are visually represented as your calmly companion- a plant that grows with you.</a:t>
            </a: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Keeps the patient motivated and consistent.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4C14C5E-B7A0-B114-A11D-9A2300788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7" y="1939596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90FF7D-72D0-E3F2-06AA-8FB5B2393471}"/>
              </a:ext>
            </a:extLst>
          </p:cNvPr>
          <p:cNvSpPr/>
          <p:nvPr/>
        </p:nvSpPr>
        <p:spPr>
          <a:xfrm>
            <a:off x="7142025" y="2080316"/>
            <a:ext cx="1438323" cy="667519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63805D-6835-BB7C-AB55-16DCD9314E2D}"/>
              </a:ext>
            </a:extLst>
          </p:cNvPr>
          <p:cNvSpPr/>
          <p:nvPr/>
        </p:nvSpPr>
        <p:spPr>
          <a:xfrm>
            <a:off x="8737912" y="2080315"/>
            <a:ext cx="1395191" cy="667519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178C3E-F5B5-9E94-9A58-5497CC78ABE4}"/>
              </a:ext>
            </a:extLst>
          </p:cNvPr>
          <p:cNvSpPr txBox="1"/>
          <p:nvPr/>
        </p:nvSpPr>
        <p:spPr>
          <a:xfrm>
            <a:off x="7425759" y="2229959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Journal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60D886-E191-3230-3E5D-85C479A32AC4}"/>
              </a:ext>
            </a:extLst>
          </p:cNvPr>
          <p:cNvSpPr txBox="1"/>
          <p:nvPr/>
        </p:nvSpPr>
        <p:spPr>
          <a:xfrm>
            <a:off x="9064777" y="2229958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Quiz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07BDB1-3DD6-2008-DCD4-A4CC119ED1BD}"/>
              </a:ext>
            </a:extLst>
          </p:cNvPr>
          <p:cNvSpPr/>
          <p:nvPr/>
        </p:nvSpPr>
        <p:spPr>
          <a:xfrm>
            <a:off x="10319420" y="2080314"/>
            <a:ext cx="1395191" cy="667519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BE96C6-AA10-F721-BC6C-E758F7EEA515}"/>
              </a:ext>
            </a:extLst>
          </p:cNvPr>
          <p:cNvSpPr txBox="1"/>
          <p:nvPr/>
        </p:nvSpPr>
        <p:spPr>
          <a:xfrm>
            <a:off x="10430626" y="2229958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Exercises</a:t>
            </a: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FB99A53-0025-D736-F17D-F0168A58567D}"/>
              </a:ext>
            </a:extLst>
          </p:cNvPr>
          <p:cNvCxnSpPr/>
          <p:nvPr/>
        </p:nvCxnSpPr>
        <p:spPr>
          <a:xfrm>
            <a:off x="7773749" y="2746661"/>
            <a:ext cx="799382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504778BA-62B2-7C14-4DAA-96F2492CC78D}"/>
              </a:ext>
            </a:extLst>
          </p:cNvPr>
          <p:cNvCxnSpPr>
            <a:cxnSpLocks/>
          </p:cNvCxnSpPr>
          <p:nvPr/>
        </p:nvCxnSpPr>
        <p:spPr>
          <a:xfrm flipH="1">
            <a:off x="10226526" y="2746661"/>
            <a:ext cx="782127" cy="856891"/>
          </a:xfrm>
          <a:prstGeom prst="curvedConnector3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1A1D7D-4E94-EE61-0F56-F04E1D8B9684}"/>
              </a:ext>
            </a:extLst>
          </p:cNvPr>
          <p:cNvCxnSpPr/>
          <p:nvPr/>
        </p:nvCxnSpPr>
        <p:spPr>
          <a:xfrm>
            <a:off x="9459422" y="2743434"/>
            <a:ext cx="18485" cy="1000839"/>
          </a:xfrm>
          <a:prstGeom prst="straightConnector1">
            <a:avLst/>
          </a:prstGeom>
          <a:ln>
            <a:solidFill>
              <a:srgbClr val="858E6D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7C4D7F6-C796-0D94-588F-C81E5A3A44DB}"/>
              </a:ext>
            </a:extLst>
          </p:cNvPr>
          <p:cNvSpPr/>
          <p:nvPr/>
        </p:nvSpPr>
        <p:spPr>
          <a:xfrm>
            <a:off x="8622892" y="3733711"/>
            <a:ext cx="1697115" cy="653142"/>
          </a:xfrm>
          <a:prstGeom prst="rect">
            <a:avLst/>
          </a:prstGeom>
          <a:noFill/>
          <a:ln>
            <a:solidFill>
              <a:srgbClr val="858E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A8FA60-0E18-4328-99D8-3E106979849A}"/>
              </a:ext>
            </a:extLst>
          </p:cNvPr>
          <p:cNvSpPr txBox="1"/>
          <p:nvPr/>
        </p:nvSpPr>
        <p:spPr>
          <a:xfrm>
            <a:off x="8849117" y="3868977"/>
            <a:ext cx="175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692A61"/>
                </a:solidFill>
              </a:rPr>
              <a:t>Plant grows</a:t>
            </a:r>
          </a:p>
        </p:txBody>
      </p:sp>
    </p:spTree>
    <p:extLst>
      <p:ext uri="{BB962C8B-B14F-4D97-AF65-F5344CB8AC3E}">
        <p14:creationId xmlns:p14="http://schemas.microsoft.com/office/powerpoint/2010/main" val="3218844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C12E-C8FA-BFBE-6BBA-E68528B2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05F80-0664-93F1-B340-3461BA1C7BA1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02800C-AB65-E1B3-DD03-D16EDA7166C8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8CB0D8-4AF8-965D-9BC9-5806CC5CC461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231018-11B2-1ACB-52F1-5165B9714487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528783-1C2D-82C4-0BD0-99BE4207F90F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A2930C-E1EC-7126-5380-9259E5D9E6B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BA817A6-1EE3-5C07-827D-FCAF0DECF52B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79BDC2F0-A2DE-C01C-C13B-F0C3594AE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0B024-A930-E07A-43F9-5952EC13FE87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1903DC-5BDB-46C5-7961-79DC3373747C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47EA7CC0-2AEE-A1B2-CD08-3AEB10D09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1270A8-7199-76FC-0CB1-484424B422EB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B215E90-52FF-8DBF-A85B-0D7096562D10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66D345A-4388-E3C8-DD06-BB46F0D2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9F5C39F-D618-8C75-8408-CB012D7BC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A7E36D-8B0E-4A67-B670-09AE3FE3520D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1AE30-EA7E-4D14-7BD6-17D9E8D2D157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Grounded weekly AI reports for therapist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E0DCA6-858B-257E-5DF2-B39999E9D949}"/>
              </a:ext>
            </a:extLst>
          </p:cNvPr>
          <p:cNvSpPr txBox="1"/>
          <p:nvPr/>
        </p:nvSpPr>
        <p:spPr>
          <a:xfrm>
            <a:off x="3390122" y="2742847"/>
            <a:ext cx="3201456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Numbers are computed, never generated</a:t>
            </a:r>
          </a:p>
          <a:p>
            <a:r>
              <a:rPr lang="en-US" dirty="0">
                <a:solidFill>
                  <a:schemeClr val="bg2"/>
                </a:solidFill>
              </a:rPr>
              <a:t>Stats are generated directly from the db.</a:t>
            </a:r>
          </a:p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Always human-over-AI</a:t>
            </a:r>
          </a:p>
          <a:p>
            <a:r>
              <a:rPr lang="en-US" dirty="0">
                <a:solidFill>
                  <a:schemeClr val="bg2"/>
                </a:solidFill>
              </a:rPr>
              <a:t>Therapist review &amp; edit future quizzes, add advices</a:t>
            </a:r>
            <a:r>
              <a:rPr lang="en-US" sz="1900" b="1" dirty="0">
                <a:solidFill>
                  <a:schemeClr val="bg2"/>
                </a:solidFill>
              </a:rPr>
              <a:t> 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EE54EF3-9799-D6E3-C9BF-F948624ED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07" y="1939596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88FA0CE-E6D9-DF52-17EB-D210384FF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" y="1944449"/>
            <a:ext cx="2141688" cy="4564991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E3AD2-3EFD-EB3A-7274-68DAE5CFCC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6273" y="7182570"/>
            <a:ext cx="2117606" cy="455546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DD79F9-1B9C-D2B9-8E3A-AA0051AD18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6755" y="7182569"/>
            <a:ext cx="2141508" cy="456984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355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0838-0E0F-4BB2-3745-95B435A6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53896C-A5D5-D5D2-3D03-3E6FE20CB4B6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22A98F-057E-4600-51B2-767A3D259002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AA7CD7-F91B-D9EA-B43E-ED4E8376855C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152AAC3-6397-51DD-D904-E3AF3E9CB12B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EFF230-235F-6C2B-5B9A-36D7A3B7C215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471F2A-DDB1-3434-4C7E-07586C038FBB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3AF8AE-7BE3-C544-F61E-9CA3181D2717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77C1A5D8-4785-C5A9-64BD-F63BE6D10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3864CB-BB20-3931-9438-E072906BC63A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215C3-771D-F3FE-1D20-A19FDE6DE2F3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EF6956FC-500C-BE40-AC61-A42FDD75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6FFF28-A242-589F-2FD4-DACD10B80B63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D15CF7-6088-E1C1-D0CD-A95E71D330C5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964723-54FE-7E22-645A-5C3E438F6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94D0B9-544F-5804-5EC6-03E52469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00" y="1957568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C67F63-46DB-CDF2-6F1F-C329A4BF2502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A58C1-A475-02A0-F4B4-54DEB3CAF732}"/>
              </a:ext>
            </a:extLst>
          </p:cNvPr>
          <p:cNvSpPr txBox="1"/>
          <p:nvPr/>
        </p:nvSpPr>
        <p:spPr>
          <a:xfrm>
            <a:off x="3265713" y="1945051"/>
            <a:ext cx="3859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2E5460"/>
                </a:solidFill>
                <a:latin typeface="Nirmala UI"/>
                <a:ea typeface="Nirmala UI"/>
                <a:cs typeface="Nirmala UI"/>
              </a:rPr>
              <a:t>Grounded weekly AI reports for therapist</a:t>
            </a:r>
          </a:p>
          <a:p>
            <a:endParaRPr lang="en-US" sz="2400" b="1" dirty="0">
              <a:solidFill>
                <a:srgbClr val="2E546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E5D91C-C4CB-D69D-C574-B55D7C6AC4D3}"/>
              </a:ext>
            </a:extLst>
          </p:cNvPr>
          <p:cNvSpPr txBox="1"/>
          <p:nvPr/>
        </p:nvSpPr>
        <p:spPr>
          <a:xfrm>
            <a:off x="3390122" y="2742847"/>
            <a:ext cx="3201456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Numbers are computed, never generated</a:t>
            </a:r>
          </a:p>
          <a:p>
            <a:r>
              <a:rPr lang="en-US" dirty="0">
                <a:solidFill>
                  <a:schemeClr val="bg2"/>
                </a:solidFill>
              </a:rPr>
              <a:t>Stats are generated directly from the db.</a:t>
            </a:r>
          </a:p>
          <a:p>
            <a:pPr marL="285750" indent="-285750">
              <a:buFont typeface="Arial"/>
              <a:buChar char="•"/>
            </a:pPr>
            <a:r>
              <a:rPr lang="en-US" sz="1900" b="1" dirty="0">
                <a:solidFill>
                  <a:schemeClr val="bg2"/>
                </a:solidFill>
              </a:rPr>
              <a:t>Always human-over-AI</a:t>
            </a:r>
          </a:p>
          <a:p>
            <a:r>
              <a:rPr lang="en-US" dirty="0">
                <a:solidFill>
                  <a:schemeClr val="bg2"/>
                </a:solidFill>
              </a:rPr>
              <a:t>Therapist review &amp; edit future quizzes, add advices</a:t>
            </a:r>
            <a:r>
              <a:rPr lang="en-US" sz="1900" b="1" dirty="0">
                <a:solidFill>
                  <a:schemeClr val="bg2"/>
                </a:solidFill>
              </a:rPr>
              <a:t> </a:t>
            </a:r>
          </a:p>
          <a:p>
            <a:pPr marL="285750" indent="-285750">
              <a:buFont typeface="Arial"/>
              <a:buChar char="•"/>
            </a:pPr>
            <a:endParaRPr lang="en-US" sz="1900" b="1" dirty="0">
              <a:solidFill>
                <a:schemeClr val="bg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0CFD78C-C1DD-79FB-8B8C-428E3AF0A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07" y="1939596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63E216E-8844-8FF6-0628-7E570D6CB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" y="1944449"/>
            <a:ext cx="2141688" cy="4564991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F0E22F-F68C-6F2F-0BB7-8DFAAA80C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6273" y="1906079"/>
            <a:ext cx="2117606" cy="455546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8F3B9F-DBF8-121F-E842-4CD88B059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6755" y="1906078"/>
            <a:ext cx="2141508" cy="456984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5545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728D-E063-E5D4-0C15-8C9B1B09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DDB609-501C-B2C3-5027-E84BF47A0065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41DEC-946F-1201-986E-5849D9396E87}"/>
              </a:ext>
            </a:extLst>
          </p:cNvPr>
          <p:cNvGrpSpPr/>
          <p:nvPr/>
        </p:nvGrpSpPr>
        <p:grpSpPr>
          <a:xfrm rot="15240000">
            <a:off x="10426196" y="-1317986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F25580-2C18-3792-6C3C-C067F60061ED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1F8CAA-065B-92E4-5F00-0BE1F005FD3E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1C466A-1ED4-1EEA-3601-D6F2660FE600}"/>
              </a:ext>
            </a:extLst>
          </p:cNvPr>
          <p:cNvGrpSpPr/>
          <p:nvPr/>
        </p:nvGrpSpPr>
        <p:grpSpPr>
          <a:xfrm rot="18420000">
            <a:off x="-1562221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1CE232D-94E5-B781-D072-BA53C644EDD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B8498A-14FF-C4E7-07BF-E56F4E55DC25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6F1DDED1-5F90-D422-E7D8-7AC986E17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5E8D3A-BDF4-6D31-B3A9-AA2B28B525D2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53982A-0F3F-7481-3FA2-EE09807C3EBE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68AD8430-272B-E549-EAD4-ACA4E426E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E5BF66-C0F2-A7B5-BD58-E5B7C0FD3141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2BD24EC-FD7F-4B1B-29F0-73A91C9DDB55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E27E0D3-A9F9-4827-1D50-0A4CD10E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68" y="1949210"/>
            <a:ext cx="2136836" cy="454108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1A52511-5C1A-4046-3457-41EF763FD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866" y="1943191"/>
            <a:ext cx="213216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7A37C5-F5BE-D096-D94D-A1A459C0D463}"/>
              </a:ext>
            </a:extLst>
          </p:cNvPr>
          <p:cNvSpPr txBox="1"/>
          <p:nvPr/>
        </p:nvSpPr>
        <p:spPr>
          <a:xfrm>
            <a:off x="8388" y="937820"/>
            <a:ext cx="8167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AI assisted personalization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2AFE74F-3250-A003-BDCA-3573F0F2F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90" y="1953973"/>
            <a:ext cx="2131983" cy="453156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256A05-86AA-43E8-D6D8-A0E4A5FCC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459" y="1958826"/>
            <a:ext cx="2141688" cy="4564991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19877F-B522-C233-8956-41C36D90F8AD}"/>
              </a:ext>
            </a:extLst>
          </p:cNvPr>
          <p:cNvSpPr/>
          <p:nvPr/>
        </p:nvSpPr>
        <p:spPr>
          <a:xfrm rot="16200000">
            <a:off x="13766617" y="829094"/>
            <a:ext cx="1311038" cy="419938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829883-504A-579C-C036-4793DFF9348F}"/>
              </a:ext>
            </a:extLst>
          </p:cNvPr>
          <p:cNvSpPr/>
          <p:nvPr/>
        </p:nvSpPr>
        <p:spPr>
          <a:xfrm rot="16200000">
            <a:off x="13824130" y="685321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CB47F-6F98-E3DB-3718-71E7D34AD1C9}"/>
              </a:ext>
            </a:extLst>
          </p:cNvPr>
          <p:cNvSpPr txBox="1"/>
          <p:nvPr/>
        </p:nvSpPr>
        <p:spPr>
          <a:xfrm>
            <a:off x="12481307" y="2162765"/>
            <a:ext cx="41365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858E6D"/>
                </a:solidFill>
              </a:rPr>
              <a:t>Dual-LLM with graceful fallback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85B38-2B4E-91F7-0103-6E08DB556C1F}"/>
              </a:ext>
            </a:extLst>
          </p:cNvPr>
          <p:cNvSpPr txBox="1"/>
          <p:nvPr/>
        </p:nvSpPr>
        <p:spPr>
          <a:xfrm>
            <a:off x="12502311" y="2562462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Gemini flash first, </a:t>
            </a:r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Groq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fallback. If both fails, features degrades. The app never breaks</a:t>
            </a:r>
          </a:p>
        </p:txBody>
      </p:sp>
    </p:spTree>
    <p:extLst>
      <p:ext uri="{BB962C8B-B14F-4D97-AF65-F5344CB8AC3E}">
        <p14:creationId xmlns:p14="http://schemas.microsoft.com/office/powerpoint/2010/main" val="2617151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3E29-4C99-BB52-C2C2-A2615D27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21C8AE-B312-68A2-8FFC-0E818F390E67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5FBA94-3C49-7E86-9AB6-236B6FEEF634}"/>
              </a:ext>
            </a:extLst>
          </p:cNvPr>
          <p:cNvGrpSpPr/>
          <p:nvPr/>
        </p:nvGrpSpPr>
        <p:grpSpPr>
          <a:xfrm rot="-2400000">
            <a:off x="10498083" y="5166203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DE5821A-08CB-DBBE-394A-C530D38966B3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1865302-FFB0-5B0C-9D30-0ACEAB22E5D3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08F1F1-87AD-569C-03B3-BEF78DE2D06D}"/>
              </a:ext>
            </a:extLst>
          </p:cNvPr>
          <p:cNvGrpSpPr/>
          <p:nvPr/>
        </p:nvGrpSpPr>
        <p:grpSpPr>
          <a:xfrm rot="2160000">
            <a:off x="-1432825" y="-1314151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0B0EE64-C5F5-EEA4-975B-804EF829A63A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563A589-4B1B-E4A5-1038-C4BA7DEFC996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9354ABE5-8358-342D-55EF-A696EDE5C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BB1CFF-A0E9-4186-FE37-D39B8C4F9596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2478A-E883-4542-2A9E-EAE1C22EF550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A7F7F0BD-7F47-F3D1-1695-2B8065B2D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1243922-28AE-F186-5467-BDE28E2226E2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1D9AFC-EB6E-3642-3DC5-3B61D79BD75D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0DCDB-ACD1-AE73-C73B-FDC9F79AF220}"/>
              </a:ext>
            </a:extLst>
          </p:cNvPr>
          <p:cNvSpPr txBox="1"/>
          <p:nvPr/>
        </p:nvSpPr>
        <p:spPr>
          <a:xfrm>
            <a:off x="756011" y="937820"/>
            <a:ext cx="96049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Full-stack, production grade, self-healing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074C56-2749-3240-5DAD-3D18E0EE1387}"/>
              </a:ext>
            </a:extLst>
          </p:cNvPr>
          <p:cNvSpPr/>
          <p:nvPr/>
        </p:nvSpPr>
        <p:spPr>
          <a:xfrm rot="16200000">
            <a:off x="8590768" y="785962"/>
            <a:ext cx="1311038" cy="419938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E75712-47F7-987C-3725-3DB4C9007CC3}"/>
              </a:ext>
            </a:extLst>
          </p:cNvPr>
          <p:cNvSpPr/>
          <p:nvPr/>
        </p:nvSpPr>
        <p:spPr>
          <a:xfrm rot="16200000">
            <a:off x="8648281" y="642189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E4A33-3BA5-2544-5B41-4971AA1DAEB0}"/>
              </a:ext>
            </a:extLst>
          </p:cNvPr>
          <p:cNvSpPr txBox="1"/>
          <p:nvPr/>
        </p:nvSpPr>
        <p:spPr>
          <a:xfrm>
            <a:off x="7305458" y="2119633"/>
            <a:ext cx="41365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858E6D"/>
                </a:solidFill>
              </a:rPr>
              <a:t>Dual-LLM with graceful fallback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2C90B8-E984-010A-A465-A9975FFF1659}"/>
              </a:ext>
            </a:extLst>
          </p:cNvPr>
          <p:cNvSpPr txBox="1"/>
          <p:nvPr/>
        </p:nvSpPr>
        <p:spPr>
          <a:xfrm>
            <a:off x="7326462" y="2519330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Gemini flash first, </a:t>
            </a:r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Groq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fallback. If both fails, features degrades. The app never breaks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F5F5E7-576B-8F90-C7AB-66DAB9BAD2B6}"/>
              </a:ext>
            </a:extLst>
          </p:cNvPr>
          <p:cNvSpPr/>
          <p:nvPr/>
        </p:nvSpPr>
        <p:spPr>
          <a:xfrm rot="16200000">
            <a:off x="13665976" y="2324339"/>
            <a:ext cx="1311038" cy="419938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9615C05-A9C2-F54A-8B48-235BD3A90502}"/>
              </a:ext>
            </a:extLst>
          </p:cNvPr>
          <p:cNvSpPr/>
          <p:nvPr/>
        </p:nvSpPr>
        <p:spPr>
          <a:xfrm rot="16200000">
            <a:off x="13723489" y="2180566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A14460-A8E2-D872-93FF-DACD0A5E0B92}"/>
              </a:ext>
            </a:extLst>
          </p:cNvPr>
          <p:cNvSpPr txBox="1"/>
          <p:nvPr/>
        </p:nvSpPr>
        <p:spPr>
          <a:xfrm>
            <a:off x="12380666" y="3658010"/>
            <a:ext cx="4136571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2E5460"/>
                </a:solidFill>
              </a:rPr>
              <a:t>Security-first by design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AF6C00-204C-8443-E109-24325828052F}"/>
              </a:ext>
            </a:extLst>
          </p:cNvPr>
          <p:cNvSpPr txBox="1"/>
          <p:nvPr/>
        </p:nvSpPr>
        <p:spPr>
          <a:xfrm>
            <a:off x="12401669" y="4057707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bcrypt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passwords and OTPs, JWT isolation and journal lock tokens, server-side data scoping</a:t>
            </a:r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5CC08BF0-5476-E7E6-268A-BE58A618896E}"/>
              </a:ext>
            </a:extLst>
          </p:cNvPr>
          <p:cNvSpPr/>
          <p:nvPr/>
        </p:nvSpPr>
        <p:spPr>
          <a:xfrm>
            <a:off x="4880673" y="5166754"/>
            <a:ext cx="1352938" cy="68424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Mongodb</a:t>
            </a:r>
            <a:r>
              <a:rPr lang="en-US" sz="1400" dirty="0"/>
              <a:t> Atlas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AFB4AA-F46C-17FE-24E1-7CDA2CC710D3}"/>
              </a:ext>
            </a:extLst>
          </p:cNvPr>
          <p:cNvSpPr/>
          <p:nvPr/>
        </p:nvSpPr>
        <p:spPr>
          <a:xfrm>
            <a:off x="425746" y="3436775"/>
            <a:ext cx="112730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Weekly Ai reports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097F2A-EBDA-D099-7E09-9A201E9F0FAF}"/>
              </a:ext>
            </a:extLst>
          </p:cNvPr>
          <p:cNvSpPr/>
          <p:nvPr/>
        </p:nvSpPr>
        <p:spPr>
          <a:xfrm>
            <a:off x="1662198" y="3436774"/>
            <a:ext cx="1141679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Task: advice + feedback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3DA74F-5724-FF39-BC5A-DB7AF3B440AE}"/>
              </a:ext>
            </a:extLst>
          </p:cNvPr>
          <p:cNvSpPr/>
          <p:nvPr/>
        </p:nvSpPr>
        <p:spPr>
          <a:xfrm>
            <a:off x="3114312" y="2674775"/>
            <a:ext cx="106979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Journal &amp; quiz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3159BB3-41BD-0F2B-FA52-A6C2AF1DA79F}"/>
              </a:ext>
            </a:extLst>
          </p:cNvPr>
          <p:cNvSpPr/>
          <p:nvPr/>
        </p:nvSpPr>
        <p:spPr>
          <a:xfrm>
            <a:off x="4322009" y="2674774"/>
            <a:ext cx="118481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Exercises + </a:t>
            </a:r>
            <a:r>
              <a:rPr lang="en-US" sz="1400" dirty="0" err="1"/>
              <a:t>mediapipe</a:t>
            </a:r>
            <a:endParaRPr lang="en-US" sz="1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5B1530-81E4-7ABC-0012-2F07291E9813}"/>
              </a:ext>
            </a:extLst>
          </p:cNvPr>
          <p:cNvSpPr/>
          <p:nvPr/>
        </p:nvSpPr>
        <p:spPr>
          <a:xfrm>
            <a:off x="4940236" y="4098133"/>
            <a:ext cx="1256698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Ai layer:</a:t>
            </a:r>
          </a:p>
          <a:p>
            <a:pPr algn="ctr"/>
            <a:r>
              <a:rPr lang="en-US" sz="1400" dirty="0"/>
              <a:t>Gemini , </a:t>
            </a:r>
            <a:r>
              <a:rPr lang="en-US" sz="1400" dirty="0" err="1"/>
              <a:t>Groq</a:t>
            </a:r>
            <a:endParaRPr lang="en-US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F824854-9FE4-7384-625C-B7EF1CAC9353}"/>
              </a:ext>
            </a:extLst>
          </p:cNvPr>
          <p:cNvSpPr/>
          <p:nvPr/>
        </p:nvSpPr>
        <p:spPr>
          <a:xfrm>
            <a:off x="295469" y="2881046"/>
            <a:ext cx="2501073" cy="1212686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44B185F-C8E6-0DDD-828A-B354DB7B0701}"/>
              </a:ext>
            </a:extLst>
          </p:cNvPr>
          <p:cNvSpPr/>
          <p:nvPr/>
        </p:nvSpPr>
        <p:spPr>
          <a:xfrm>
            <a:off x="2984035" y="2219686"/>
            <a:ext cx="2673601" cy="1126422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1E1B199-F695-34EB-198D-72566BB1763B}"/>
              </a:ext>
            </a:extLst>
          </p:cNvPr>
          <p:cNvSpPr/>
          <p:nvPr/>
        </p:nvSpPr>
        <p:spPr>
          <a:xfrm>
            <a:off x="4450524" y="3772443"/>
            <a:ext cx="2213527" cy="2463514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310AD4-BB6D-5F51-40F3-CAB2D8FFAC33}"/>
              </a:ext>
            </a:extLst>
          </p:cNvPr>
          <p:cNvSpPr txBox="1"/>
          <p:nvPr/>
        </p:nvSpPr>
        <p:spPr>
          <a:xfrm>
            <a:off x="994385" y="3001347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therapist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836E72-0533-0B36-8C67-7606DF6937E0}"/>
              </a:ext>
            </a:extLst>
          </p:cNvPr>
          <p:cNvSpPr txBox="1"/>
          <p:nvPr/>
        </p:nvSpPr>
        <p:spPr>
          <a:xfrm>
            <a:off x="3912989" y="2224969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patient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A7B02D-BC10-6459-7BB9-0138A1B6C8F6}"/>
              </a:ext>
            </a:extLst>
          </p:cNvPr>
          <p:cNvSpPr txBox="1"/>
          <p:nvPr/>
        </p:nvSpPr>
        <p:spPr>
          <a:xfrm>
            <a:off x="4444952" y="3734593"/>
            <a:ext cx="221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E5460"/>
                </a:solidFill>
              </a:rPr>
              <a:t>Server next </a:t>
            </a:r>
            <a:r>
              <a:rPr lang="en-US" dirty="0" err="1">
                <a:solidFill>
                  <a:srgbClr val="2E5460"/>
                </a:solidFill>
              </a:rPr>
              <a:t>js</a:t>
            </a:r>
            <a:r>
              <a:rPr lang="en-US" dirty="0">
                <a:solidFill>
                  <a:srgbClr val="2E5460"/>
                </a:solidFill>
              </a:rPr>
              <a:t> &amp;API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C3E6891-CED9-2897-377F-20D3DF28BC97}"/>
              </a:ext>
            </a:extLst>
          </p:cNvPr>
          <p:cNvCxnSpPr/>
          <p:nvPr/>
        </p:nvCxnSpPr>
        <p:spPr>
          <a:xfrm flipV="1">
            <a:off x="1570653" y="2394856"/>
            <a:ext cx="1430693" cy="482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E0C4964-EF1F-5AE6-8689-ADF81C087273}"/>
              </a:ext>
            </a:extLst>
          </p:cNvPr>
          <p:cNvCxnSpPr/>
          <p:nvPr/>
        </p:nvCxnSpPr>
        <p:spPr>
          <a:xfrm>
            <a:off x="5645020" y="2861387"/>
            <a:ext cx="637591" cy="917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869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2274-2683-D1BE-9F13-FC4346DD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70E3EC-1964-AFA3-5423-B3B22BB0853F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E5044C-F0E5-3C53-2E96-13BEF74735EB}"/>
              </a:ext>
            </a:extLst>
          </p:cNvPr>
          <p:cNvGrpSpPr/>
          <p:nvPr/>
        </p:nvGrpSpPr>
        <p:grpSpPr>
          <a:xfrm rot="-2400000">
            <a:off x="10498083" y="5166203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2FAC2F-1DE0-4978-BF16-47FA016888BA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28E87F-D169-B9DD-B79A-D8059793B433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C956A0-CC08-188F-8CF6-7D6041980480}"/>
              </a:ext>
            </a:extLst>
          </p:cNvPr>
          <p:cNvGrpSpPr/>
          <p:nvPr/>
        </p:nvGrpSpPr>
        <p:grpSpPr>
          <a:xfrm rot="2160000">
            <a:off x="-1432825" y="-1314151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BC46C15-ABB2-50DB-154F-74B4E99F2D56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EE3916-E287-E405-8B93-E96E13F21026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17B3F7B2-7AC1-6701-BC84-A48DCD415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EAF73C-E2C2-164A-640F-000116384A33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C07D0-FBB2-6E8E-7875-6C62F98FA6E8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04E4A8A2-0FF3-8658-FFEA-882BDDD96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7A8F69-34F0-2FF7-5C6D-FE8905EB9352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E8AD9CD-72F3-FD4B-8CB0-E5B21A206026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5B0BA-13DF-085F-3F4E-71D785DC88D5}"/>
              </a:ext>
            </a:extLst>
          </p:cNvPr>
          <p:cNvSpPr txBox="1"/>
          <p:nvPr/>
        </p:nvSpPr>
        <p:spPr>
          <a:xfrm>
            <a:off x="756011" y="937820"/>
            <a:ext cx="96049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Full-stack, production grade, self-healing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672390-2831-1BF9-F454-E12523937BAA}"/>
              </a:ext>
            </a:extLst>
          </p:cNvPr>
          <p:cNvSpPr/>
          <p:nvPr/>
        </p:nvSpPr>
        <p:spPr>
          <a:xfrm rot="16200000">
            <a:off x="8590768" y="785962"/>
            <a:ext cx="1311038" cy="419938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495FC0-DF21-356C-C65D-C55E20D51D5C}"/>
              </a:ext>
            </a:extLst>
          </p:cNvPr>
          <p:cNvSpPr/>
          <p:nvPr/>
        </p:nvSpPr>
        <p:spPr>
          <a:xfrm rot="16200000">
            <a:off x="8648281" y="642189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A66AAA-EA7F-6A95-9D68-F8D2D0E45D2D}"/>
              </a:ext>
            </a:extLst>
          </p:cNvPr>
          <p:cNvSpPr txBox="1"/>
          <p:nvPr/>
        </p:nvSpPr>
        <p:spPr>
          <a:xfrm>
            <a:off x="7305458" y="2119633"/>
            <a:ext cx="41365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858E6D"/>
                </a:solidFill>
              </a:rPr>
              <a:t>Dual-LLM with graceful fallback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C062E3-D594-0B3C-4640-A9FFC3CDB069}"/>
              </a:ext>
            </a:extLst>
          </p:cNvPr>
          <p:cNvSpPr txBox="1"/>
          <p:nvPr/>
        </p:nvSpPr>
        <p:spPr>
          <a:xfrm>
            <a:off x="7326462" y="2519330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Gemini flash first, </a:t>
            </a:r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Groq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fallback. If both fails, features degrades. The app never breaks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9F996A-0D3A-D46F-4AD8-2B02461B6734}"/>
              </a:ext>
            </a:extLst>
          </p:cNvPr>
          <p:cNvSpPr/>
          <p:nvPr/>
        </p:nvSpPr>
        <p:spPr>
          <a:xfrm rot="16200000">
            <a:off x="8590768" y="2338716"/>
            <a:ext cx="1311038" cy="419938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0F6C02-DF27-416C-7982-F9D4897DE473}"/>
              </a:ext>
            </a:extLst>
          </p:cNvPr>
          <p:cNvSpPr/>
          <p:nvPr/>
        </p:nvSpPr>
        <p:spPr>
          <a:xfrm rot="16200000">
            <a:off x="8648281" y="2194943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D6E5AE-D031-01E2-5E34-4A50B3D5B49A}"/>
              </a:ext>
            </a:extLst>
          </p:cNvPr>
          <p:cNvSpPr txBox="1"/>
          <p:nvPr/>
        </p:nvSpPr>
        <p:spPr>
          <a:xfrm>
            <a:off x="7305458" y="3672387"/>
            <a:ext cx="4136571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2E5460"/>
                </a:solidFill>
              </a:rPr>
              <a:t>Security-first by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A0ADE5-E63D-05EB-0770-FB4F56D1BE33}"/>
              </a:ext>
            </a:extLst>
          </p:cNvPr>
          <p:cNvSpPr txBox="1"/>
          <p:nvPr/>
        </p:nvSpPr>
        <p:spPr>
          <a:xfrm>
            <a:off x="7326462" y="4072084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bcrypt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passwords and OTPs, JWT isolation and journal lock tokens, server-side data scoping</a:t>
            </a: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07758391-A66C-35F4-4FF1-8355B70C8282}"/>
              </a:ext>
            </a:extLst>
          </p:cNvPr>
          <p:cNvSpPr/>
          <p:nvPr/>
        </p:nvSpPr>
        <p:spPr>
          <a:xfrm>
            <a:off x="4880673" y="5166754"/>
            <a:ext cx="1352938" cy="68424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Mongodb</a:t>
            </a:r>
            <a:r>
              <a:rPr lang="en-US" sz="1400" dirty="0"/>
              <a:t> Atlas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4CAB61-39C2-5494-3717-F62ABCABE0C3}"/>
              </a:ext>
            </a:extLst>
          </p:cNvPr>
          <p:cNvSpPr/>
          <p:nvPr/>
        </p:nvSpPr>
        <p:spPr>
          <a:xfrm>
            <a:off x="425746" y="3436775"/>
            <a:ext cx="112730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Weekly Ai reports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063511-E023-86D1-63CA-6BEF4F8F3963}"/>
              </a:ext>
            </a:extLst>
          </p:cNvPr>
          <p:cNvSpPr/>
          <p:nvPr/>
        </p:nvSpPr>
        <p:spPr>
          <a:xfrm>
            <a:off x="1662198" y="3436774"/>
            <a:ext cx="1141679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Task: advice + feedback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4EC424-0048-106F-6535-7365E9C8C9FC}"/>
              </a:ext>
            </a:extLst>
          </p:cNvPr>
          <p:cNvSpPr/>
          <p:nvPr/>
        </p:nvSpPr>
        <p:spPr>
          <a:xfrm>
            <a:off x="3114312" y="2674775"/>
            <a:ext cx="106979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Journal &amp; quiz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4C379B-2E41-AEC1-8733-E7655881E8BA}"/>
              </a:ext>
            </a:extLst>
          </p:cNvPr>
          <p:cNvSpPr/>
          <p:nvPr/>
        </p:nvSpPr>
        <p:spPr>
          <a:xfrm>
            <a:off x="4322009" y="2674774"/>
            <a:ext cx="118481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Exercises + </a:t>
            </a:r>
            <a:r>
              <a:rPr lang="en-US" sz="1400" dirty="0" err="1"/>
              <a:t>mediapipe</a:t>
            </a:r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61AB36-55DE-E6CD-5C72-F51C3738E032}"/>
              </a:ext>
            </a:extLst>
          </p:cNvPr>
          <p:cNvSpPr/>
          <p:nvPr/>
        </p:nvSpPr>
        <p:spPr>
          <a:xfrm>
            <a:off x="4940236" y="4098133"/>
            <a:ext cx="1256698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Ai layer:</a:t>
            </a:r>
          </a:p>
          <a:p>
            <a:pPr algn="ctr"/>
            <a:r>
              <a:rPr lang="en-US" sz="1400" dirty="0"/>
              <a:t>Gemini , </a:t>
            </a:r>
            <a:r>
              <a:rPr lang="en-US" sz="1400" dirty="0" err="1"/>
              <a:t>Groq</a:t>
            </a:r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D59E99C-E713-C7F7-0A17-02AA8D7CBB1A}"/>
              </a:ext>
            </a:extLst>
          </p:cNvPr>
          <p:cNvSpPr/>
          <p:nvPr/>
        </p:nvSpPr>
        <p:spPr>
          <a:xfrm>
            <a:off x="295469" y="2881046"/>
            <a:ext cx="2501073" cy="1212686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25F58D-5CAA-8524-E3C2-C7CEB73FD4D1}"/>
              </a:ext>
            </a:extLst>
          </p:cNvPr>
          <p:cNvSpPr/>
          <p:nvPr/>
        </p:nvSpPr>
        <p:spPr>
          <a:xfrm>
            <a:off x="2984035" y="2219686"/>
            <a:ext cx="2673601" cy="1126422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45CEE6-6E42-9E32-B3EB-4A7992530864}"/>
              </a:ext>
            </a:extLst>
          </p:cNvPr>
          <p:cNvSpPr/>
          <p:nvPr/>
        </p:nvSpPr>
        <p:spPr>
          <a:xfrm>
            <a:off x="4450524" y="3772443"/>
            <a:ext cx="2213527" cy="2463514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314BDA-5DD8-F2A5-78C6-0370DBB6EE95}"/>
              </a:ext>
            </a:extLst>
          </p:cNvPr>
          <p:cNvSpPr txBox="1"/>
          <p:nvPr/>
        </p:nvSpPr>
        <p:spPr>
          <a:xfrm>
            <a:off x="994385" y="3001347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therapist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52AD5B-19B8-8B92-CD93-2098ABACF95C}"/>
              </a:ext>
            </a:extLst>
          </p:cNvPr>
          <p:cNvSpPr txBox="1"/>
          <p:nvPr/>
        </p:nvSpPr>
        <p:spPr>
          <a:xfrm>
            <a:off x="3912989" y="2224969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patient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006C35-D7A2-25A3-84D5-65728F0DB137}"/>
              </a:ext>
            </a:extLst>
          </p:cNvPr>
          <p:cNvSpPr txBox="1"/>
          <p:nvPr/>
        </p:nvSpPr>
        <p:spPr>
          <a:xfrm>
            <a:off x="4444952" y="3734593"/>
            <a:ext cx="221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E5460"/>
                </a:solidFill>
              </a:rPr>
              <a:t>Server next </a:t>
            </a:r>
            <a:r>
              <a:rPr lang="en-US" dirty="0" err="1">
                <a:solidFill>
                  <a:srgbClr val="2E5460"/>
                </a:solidFill>
              </a:rPr>
              <a:t>js</a:t>
            </a:r>
            <a:r>
              <a:rPr lang="en-US" dirty="0">
                <a:solidFill>
                  <a:srgbClr val="2E5460"/>
                </a:solidFill>
              </a:rPr>
              <a:t> &amp;API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B83B88C-8EAA-B1B0-B8A9-37BB7BFFB751}"/>
              </a:ext>
            </a:extLst>
          </p:cNvPr>
          <p:cNvCxnSpPr/>
          <p:nvPr/>
        </p:nvCxnSpPr>
        <p:spPr>
          <a:xfrm flipV="1">
            <a:off x="1570653" y="2394856"/>
            <a:ext cx="1430693" cy="482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9B068D9-D9C1-EFC6-427C-0DD55102E9F7}"/>
              </a:ext>
            </a:extLst>
          </p:cNvPr>
          <p:cNvCxnSpPr/>
          <p:nvPr/>
        </p:nvCxnSpPr>
        <p:spPr>
          <a:xfrm>
            <a:off x="5645020" y="2861387"/>
            <a:ext cx="637591" cy="917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153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1B55-C2DC-C780-BA4E-E7EEFD04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11CF63-7393-8B69-C7EC-571A1D970233}"/>
              </a:ext>
            </a:extLst>
          </p:cNvPr>
          <p:cNvSpPr/>
          <p:nvPr/>
        </p:nvSpPr>
        <p:spPr>
          <a:xfrm>
            <a:off x="-17673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0EF2AB-8044-C242-8BC2-DE486830AE79}"/>
              </a:ext>
            </a:extLst>
          </p:cNvPr>
          <p:cNvGrpSpPr/>
          <p:nvPr/>
        </p:nvGrpSpPr>
        <p:grpSpPr>
          <a:xfrm rot="-2400000">
            <a:off x="10498083" y="5166203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205271-9728-1B14-2502-00973C97F479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D8FEE75-4620-6B53-DE2B-91D0CC559F8C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CC1FAB-C52F-19FA-2389-B806C3EEAA0D}"/>
              </a:ext>
            </a:extLst>
          </p:cNvPr>
          <p:cNvGrpSpPr/>
          <p:nvPr/>
        </p:nvGrpSpPr>
        <p:grpSpPr>
          <a:xfrm rot="2160000">
            <a:off x="-1432825" y="-1314151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5585B9-9C02-AA60-9EDE-129CE53FA981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C05D6B-31B9-0B2E-F456-9CE5DFB1B850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A5516B0F-558A-2A90-D3E2-92821469C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715" y="333862"/>
            <a:ext cx="1851577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A95F-06C3-17D9-C4C8-52AC854A2A43}"/>
              </a:ext>
            </a:extLst>
          </p:cNvPr>
          <p:cNvSpPr txBox="1"/>
          <p:nvPr/>
        </p:nvSpPr>
        <p:spPr>
          <a:xfrm>
            <a:off x="411536" y="445481"/>
            <a:ext cx="18540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AI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69737-8D18-BA85-B08F-CFCBBF09F5E0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0BCEA168-79FF-C145-A789-4667D50BD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0">
            <a:off x="12899187" y="1273475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E82BA3C-A819-74F0-CE00-916FEC90857B}"/>
              </a:ext>
            </a:extLst>
          </p:cNvPr>
          <p:cNvSpPr/>
          <p:nvPr/>
        </p:nvSpPr>
        <p:spPr>
          <a:xfrm rot="5400000">
            <a:off x="5700919" y="-853056"/>
            <a:ext cx="60206" cy="5162666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899C1A-5D65-8278-40A9-7014D9F03E2E}"/>
              </a:ext>
            </a:extLst>
          </p:cNvPr>
          <p:cNvSpPr/>
          <p:nvPr/>
        </p:nvSpPr>
        <p:spPr>
          <a:xfrm rot="5400000" flipH="1">
            <a:off x="3712352" y="-960886"/>
            <a:ext cx="97945" cy="5105157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31279-54C7-3842-1BCE-B600811CB3D2}"/>
              </a:ext>
            </a:extLst>
          </p:cNvPr>
          <p:cNvSpPr txBox="1"/>
          <p:nvPr/>
        </p:nvSpPr>
        <p:spPr>
          <a:xfrm>
            <a:off x="756011" y="937820"/>
            <a:ext cx="96049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Full-stack, production grade, self-healing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8C2F8D-C7EF-C0FA-FA14-E283CAE7E820}"/>
              </a:ext>
            </a:extLst>
          </p:cNvPr>
          <p:cNvSpPr/>
          <p:nvPr/>
        </p:nvSpPr>
        <p:spPr>
          <a:xfrm rot="16200000">
            <a:off x="8590768" y="785962"/>
            <a:ext cx="1311038" cy="419938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40B07E-9E93-6E89-3BA9-454BCAB75522}"/>
              </a:ext>
            </a:extLst>
          </p:cNvPr>
          <p:cNvSpPr/>
          <p:nvPr/>
        </p:nvSpPr>
        <p:spPr>
          <a:xfrm rot="16200000">
            <a:off x="8648281" y="642189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58D4C7-241F-3762-4333-0615648F2D5D}"/>
              </a:ext>
            </a:extLst>
          </p:cNvPr>
          <p:cNvSpPr txBox="1"/>
          <p:nvPr/>
        </p:nvSpPr>
        <p:spPr>
          <a:xfrm>
            <a:off x="7305458" y="2119633"/>
            <a:ext cx="41365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858E6D"/>
                </a:solidFill>
              </a:rPr>
              <a:t>Dual-LLM with graceful fallback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B0458-A112-3035-480A-907B71D5A156}"/>
              </a:ext>
            </a:extLst>
          </p:cNvPr>
          <p:cNvSpPr txBox="1"/>
          <p:nvPr/>
        </p:nvSpPr>
        <p:spPr>
          <a:xfrm>
            <a:off x="7326462" y="2519330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Gemini flash first, </a:t>
            </a:r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Groq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fallback. If both fails, features degrades. The app never breaks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C628F7-759A-2E0C-A754-BDA71F534CA2}"/>
              </a:ext>
            </a:extLst>
          </p:cNvPr>
          <p:cNvSpPr/>
          <p:nvPr/>
        </p:nvSpPr>
        <p:spPr>
          <a:xfrm rot="16200000">
            <a:off x="8590768" y="2338716"/>
            <a:ext cx="1311038" cy="419938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5E9D2FB-5FF0-A6C0-6112-C10F8F5A8020}"/>
              </a:ext>
            </a:extLst>
          </p:cNvPr>
          <p:cNvSpPr/>
          <p:nvPr/>
        </p:nvSpPr>
        <p:spPr>
          <a:xfrm rot="16200000">
            <a:off x="8648281" y="2194943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3283D-A620-C5DF-441D-B3C130F115B3}"/>
              </a:ext>
            </a:extLst>
          </p:cNvPr>
          <p:cNvSpPr txBox="1"/>
          <p:nvPr/>
        </p:nvSpPr>
        <p:spPr>
          <a:xfrm>
            <a:off x="7305458" y="3672387"/>
            <a:ext cx="4136571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2E5460"/>
                </a:solidFill>
              </a:rPr>
              <a:t>Security-first by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825054-E70D-5480-EA3B-7F8EB20867F5}"/>
              </a:ext>
            </a:extLst>
          </p:cNvPr>
          <p:cNvSpPr txBox="1"/>
          <p:nvPr/>
        </p:nvSpPr>
        <p:spPr>
          <a:xfrm>
            <a:off x="7326462" y="4072084"/>
            <a:ext cx="41128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bcrypt</a:t>
            </a:r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 passwords and OTPs, JWT isolation and journal lock tokens, server-side data scoping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D98494-56D9-45B5-A9D8-E96BF92E6234}"/>
              </a:ext>
            </a:extLst>
          </p:cNvPr>
          <p:cNvSpPr/>
          <p:nvPr/>
        </p:nvSpPr>
        <p:spPr>
          <a:xfrm rot="16200000">
            <a:off x="8619522" y="3891470"/>
            <a:ext cx="1311038" cy="419938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DD734F-E12C-E104-5D06-52A757A44C6A}"/>
              </a:ext>
            </a:extLst>
          </p:cNvPr>
          <p:cNvSpPr/>
          <p:nvPr/>
        </p:nvSpPr>
        <p:spPr>
          <a:xfrm rot="16200000">
            <a:off x="8677035" y="3747697"/>
            <a:ext cx="1382923" cy="4242518"/>
          </a:xfrm>
          <a:prstGeom prst="roundRect">
            <a:avLst/>
          </a:prstGeom>
          <a:solidFill>
            <a:srgbClr val="EB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232E8-7E48-9B50-E2FA-18ABCA75FC46}"/>
              </a:ext>
            </a:extLst>
          </p:cNvPr>
          <p:cNvSpPr txBox="1"/>
          <p:nvPr/>
        </p:nvSpPr>
        <p:spPr>
          <a:xfrm>
            <a:off x="7334212" y="5225141"/>
            <a:ext cx="4136571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2E5460"/>
                </a:solidFill>
              </a:rPr>
              <a:t>Beyond English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8B305C-B989-57D1-F08D-4A8DA78334A0}"/>
              </a:ext>
            </a:extLst>
          </p:cNvPr>
          <p:cNvSpPr txBox="1"/>
          <p:nvPr/>
        </p:nvSpPr>
        <p:spPr>
          <a:xfrm>
            <a:off x="7355216" y="5624838"/>
            <a:ext cx="41128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Full English /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اُردُو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 </a:t>
            </a:r>
            <a:endParaRPr lang="en-US" sz="1200" b="1" dirty="0">
              <a:solidFill>
                <a:schemeClr val="bg2">
                  <a:lumMod val="49000"/>
                </a:schemeClr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32FCBE-BC4E-C48D-7645-6758A520F4B7}"/>
              </a:ext>
            </a:extLst>
          </p:cNvPr>
          <p:cNvSpPr txBox="1"/>
          <p:nvPr/>
        </p:nvSpPr>
        <p:spPr>
          <a:xfrm>
            <a:off x="8979857" y="5624837"/>
            <a:ext cx="41128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I18n with RTL serving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9AA48D-3FD4-673E-88BB-08F7B23235E6}"/>
              </a:ext>
            </a:extLst>
          </p:cNvPr>
          <p:cNvSpPr txBox="1"/>
          <p:nvPr/>
        </p:nvSpPr>
        <p:spPr>
          <a:xfrm>
            <a:off x="7369593" y="5869253"/>
            <a:ext cx="411282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communities often ignores by mental-health tech</a:t>
            </a:r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11912243-5B15-32D1-F722-49E6458F7BA4}"/>
              </a:ext>
            </a:extLst>
          </p:cNvPr>
          <p:cNvSpPr/>
          <p:nvPr/>
        </p:nvSpPr>
        <p:spPr>
          <a:xfrm>
            <a:off x="4880673" y="5166754"/>
            <a:ext cx="1352938" cy="68424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Mongodb</a:t>
            </a:r>
            <a:r>
              <a:rPr lang="en-US" sz="1400" dirty="0"/>
              <a:t> Atlas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A4BA22-91DF-7201-6385-8E8E563572FC}"/>
              </a:ext>
            </a:extLst>
          </p:cNvPr>
          <p:cNvSpPr/>
          <p:nvPr/>
        </p:nvSpPr>
        <p:spPr>
          <a:xfrm>
            <a:off x="425746" y="3436775"/>
            <a:ext cx="112730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Weekly Ai reports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595212-E43D-1995-EA27-65C8CACDF87C}"/>
              </a:ext>
            </a:extLst>
          </p:cNvPr>
          <p:cNvSpPr txBox="1"/>
          <p:nvPr/>
        </p:nvSpPr>
        <p:spPr>
          <a:xfrm>
            <a:off x="7786536" y="6056158"/>
            <a:ext cx="41128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49000"/>
                  </a:schemeClr>
                </a:solidFill>
                <a:latin typeface="Nirmala UI"/>
                <a:ea typeface="Nirmala UI"/>
                <a:cs typeface="Nirmala UI"/>
              </a:rPr>
              <a:t>Full English /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اُردُو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 </a:t>
            </a:r>
            <a:endParaRPr lang="en-US" sz="1200" b="1" dirty="0">
              <a:solidFill>
                <a:schemeClr val="bg2">
                  <a:lumMod val="49000"/>
                </a:schemeClr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EDDE9D-DF8A-A249-7CFC-DD60A2E7CEA2}"/>
              </a:ext>
            </a:extLst>
          </p:cNvPr>
          <p:cNvSpPr/>
          <p:nvPr/>
        </p:nvSpPr>
        <p:spPr>
          <a:xfrm>
            <a:off x="1662198" y="3436774"/>
            <a:ext cx="1141679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Task: advice + feedback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B1C15F-7252-7669-9DC7-1132B7548268}"/>
              </a:ext>
            </a:extLst>
          </p:cNvPr>
          <p:cNvSpPr/>
          <p:nvPr/>
        </p:nvSpPr>
        <p:spPr>
          <a:xfrm>
            <a:off x="3114312" y="2674775"/>
            <a:ext cx="106979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Journal &amp; quiz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9D9B90-AFD7-E8F8-47B8-F073AA9FD3E2}"/>
              </a:ext>
            </a:extLst>
          </p:cNvPr>
          <p:cNvSpPr/>
          <p:nvPr/>
        </p:nvSpPr>
        <p:spPr>
          <a:xfrm>
            <a:off x="4322009" y="2674774"/>
            <a:ext cx="1184811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Exercises + </a:t>
            </a:r>
            <a:r>
              <a:rPr lang="en-US" sz="1400" dirty="0" err="1"/>
              <a:t>mediapipe</a:t>
            </a:r>
            <a:endParaRPr lang="en-US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30C2C3-951A-4260-B443-060F48B57F31}"/>
              </a:ext>
            </a:extLst>
          </p:cNvPr>
          <p:cNvSpPr/>
          <p:nvPr/>
        </p:nvSpPr>
        <p:spPr>
          <a:xfrm>
            <a:off x="4940236" y="4098133"/>
            <a:ext cx="1256698" cy="435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Ai layer:</a:t>
            </a:r>
          </a:p>
          <a:p>
            <a:pPr algn="ctr"/>
            <a:r>
              <a:rPr lang="en-US" sz="1400" dirty="0"/>
              <a:t>Gemini , </a:t>
            </a:r>
            <a:r>
              <a:rPr lang="en-US" sz="1400" dirty="0" err="1"/>
              <a:t>Groq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4D7DA5-4E76-09AA-ADFC-14AF2A754911}"/>
              </a:ext>
            </a:extLst>
          </p:cNvPr>
          <p:cNvSpPr/>
          <p:nvPr/>
        </p:nvSpPr>
        <p:spPr>
          <a:xfrm>
            <a:off x="295469" y="2881046"/>
            <a:ext cx="2501073" cy="1212686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DB9F75-7D8B-CE3A-89DC-0AE9B07357D8}"/>
              </a:ext>
            </a:extLst>
          </p:cNvPr>
          <p:cNvSpPr/>
          <p:nvPr/>
        </p:nvSpPr>
        <p:spPr>
          <a:xfrm>
            <a:off x="2984035" y="2219686"/>
            <a:ext cx="2673601" cy="1126422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0D8F82-46EC-9D8E-2F8C-934CDBD31675}"/>
              </a:ext>
            </a:extLst>
          </p:cNvPr>
          <p:cNvSpPr/>
          <p:nvPr/>
        </p:nvSpPr>
        <p:spPr>
          <a:xfrm>
            <a:off x="4450524" y="3772443"/>
            <a:ext cx="2213527" cy="2463514"/>
          </a:xfrm>
          <a:prstGeom prst="rect">
            <a:avLst/>
          </a:prstGeom>
          <a:noFill/>
          <a:ln>
            <a:solidFill>
              <a:srgbClr val="2E54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4BAD6E-D2EA-CF7B-3298-E6905A0154DF}"/>
              </a:ext>
            </a:extLst>
          </p:cNvPr>
          <p:cNvSpPr txBox="1"/>
          <p:nvPr/>
        </p:nvSpPr>
        <p:spPr>
          <a:xfrm>
            <a:off x="994385" y="3001347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therapist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5B5D7D-C980-A0B5-E365-E3B3EA8D9AE7}"/>
              </a:ext>
            </a:extLst>
          </p:cNvPr>
          <p:cNvSpPr txBox="1"/>
          <p:nvPr/>
        </p:nvSpPr>
        <p:spPr>
          <a:xfrm>
            <a:off x="3912989" y="2224969"/>
            <a:ext cx="1321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2E5460"/>
                </a:solidFill>
              </a:rPr>
              <a:t>patient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75FDDF-0F9E-4E04-0E7D-4B5BA8EE6109}"/>
              </a:ext>
            </a:extLst>
          </p:cNvPr>
          <p:cNvSpPr txBox="1"/>
          <p:nvPr/>
        </p:nvSpPr>
        <p:spPr>
          <a:xfrm>
            <a:off x="4444952" y="3734593"/>
            <a:ext cx="221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E5460"/>
                </a:solidFill>
              </a:rPr>
              <a:t>Server next </a:t>
            </a:r>
            <a:r>
              <a:rPr lang="en-US" dirty="0" err="1">
                <a:solidFill>
                  <a:srgbClr val="2E5460"/>
                </a:solidFill>
              </a:rPr>
              <a:t>js</a:t>
            </a:r>
            <a:r>
              <a:rPr lang="en-US" dirty="0">
                <a:solidFill>
                  <a:srgbClr val="2E5460"/>
                </a:solidFill>
              </a:rPr>
              <a:t> &amp;API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D2F402-418C-4409-4586-15F8A2B0581D}"/>
              </a:ext>
            </a:extLst>
          </p:cNvPr>
          <p:cNvCxnSpPr/>
          <p:nvPr/>
        </p:nvCxnSpPr>
        <p:spPr>
          <a:xfrm flipV="1">
            <a:off x="1570653" y="2394856"/>
            <a:ext cx="1430693" cy="482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94FC80-7FDD-707D-6BA2-9FAE9B05E9B2}"/>
              </a:ext>
            </a:extLst>
          </p:cNvPr>
          <p:cNvCxnSpPr/>
          <p:nvPr/>
        </p:nvCxnSpPr>
        <p:spPr>
          <a:xfrm>
            <a:off x="5645020" y="2861387"/>
            <a:ext cx="637591" cy="917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845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9551-D437-C759-646D-1B621215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DD9462-C25C-5434-57EA-834B87FA534F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E0D238-109A-88A5-96FF-073B717CF03D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52E81BD-F060-EE6C-89EF-2AD81D7D9A50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4B3A1C2-413D-4B12-635F-91D65FCDDA39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B8B7EF-379C-2C5C-197A-D85081FE3F92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FEAE7A3-E5AD-5AFD-1E50-A13A3102481F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E177D2-340A-606D-A343-37B3B1EF8EAB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D4F43925-392C-1754-01CA-12E426E8D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9888E2-BF8F-F2F3-2B3C-07C80D7331C9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DD32EA-5D14-E407-8D1C-2CB2D5B72229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FCF747-9FDD-4C78-8928-68BD8B99044C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98630-6C03-8632-7509-186C765AEBF8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6C6EA8-4CA0-D459-BCE6-EB3C1087A3BA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0AF329-CB1A-A817-4237-FC4B148CC491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76298F-A2C8-E722-B62C-F9F14944D81D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Aptos"/>
                <a:ea typeface="Calibri"/>
                <a:cs typeface="Calibri"/>
              </a:rPr>
              <a:t>5 questions – written fresh by AI for this patient's weakest dimensions, never repeating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F99D105-6F7E-EF6E-D80F-614DC931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828" y="1517890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559FC32-A180-F194-1E5D-5BCC39090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940000">
            <a:off x="13641958" y="-1841649"/>
            <a:ext cx="2362200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DB6214-4851-5DF8-1C82-2BDD4613B22A}"/>
              </a:ext>
            </a:extLst>
          </p:cNvPr>
          <p:cNvSpPr/>
          <p:nvPr/>
        </p:nvSpPr>
        <p:spPr>
          <a:xfrm>
            <a:off x="-4959891" y="2805979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A9876B-D333-816B-3975-ADFAD520A94C}"/>
              </a:ext>
            </a:extLst>
          </p:cNvPr>
          <p:cNvSpPr/>
          <p:nvPr/>
        </p:nvSpPr>
        <p:spPr>
          <a:xfrm>
            <a:off x="-4844873" y="2805978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90731-7899-49AF-9668-865D0208963E}"/>
              </a:ext>
            </a:extLst>
          </p:cNvPr>
          <p:cNvSpPr txBox="1"/>
          <p:nvPr/>
        </p:nvSpPr>
        <p:spPr>
          <a:xfrm>
            <a:off x="-4725165" y="2872245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FD05FD-4F52-20EE-0EA1-59C1F0FA2335}"/>
              </a:ext>
            </a:extLst>
          </p:cNvPr>
          <p:cNvSpPr txBox="1"/>
          <p:nvPr/>
        </p:nvSpPr>
        <p:spPr>
          <a:xfrm>
            <a:off x="-4648979" y="3238499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</p:spTree>
    <p:extLst>
      <p:ext uri="{BB962C8B-B14F-4D97-AF65-F5344CB8AC3E}">
        <p14:creationId xmlns:p14="http://schemas.microsoft.com/office/powerpoint/2010/main" val="593293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39A5-1157-7C3C-AF72-5B7DD964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5A7BB-5D24-A822-5DE1-AE111E842090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B9845A-EF86-124C-9C74-15558DBDC6B4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2E2FD4A-208B-454C-9208-0B392A9477BD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FC5FD1-6821-3C55-71D4-C57D83A03A7A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68BC24-C615-48F9-16D1-DE540F118D4F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F93BD5-F7E9-2572-C46A-4B2B09FD7104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0C740F-D47E-B567-1EB0-0582C5285BD4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FE229F57-B789-DCFA-F32B-CCC0F7285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9ADB4-BBC3-B96C-7177-6C16DEE46027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9D58BF-7374-AA5D-878F-117BAF0DDE6F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D2BFBF-56C6-7F55-B44C-17E8C26B5139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C9649E-0015-5BA6-1049-6358581BC6A3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CCCD07-2E5A-C665-3154-E8F79D52AF40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35F67C-374B-B274-2110-ABA66EE301E5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A53742-671D-21C5-D2DC-D6FC4E9AD7A4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456752-E335-C767-8C73-9A07B19523F2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1EB1006-B3A2-3960-9C56-09D2548D340B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D8403-D149-EA0E-8DF8-84027F0DC810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A8F10D-5895-BFBF-555E-44E666052FB4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2913772-4A0D-9851-31D5-5D430A86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863" y="1537030"/>
            <a:ext cx="2362200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44113512-12BC-C006-8F7C-B81545A80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676885" y="-3816110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3E8D86C7-588F-2950-9E3F-B038F310B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120000">
            <a:off x="13790582" y="-3942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540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3DA2-2E45-C031-BAE7-DD9B742D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E522F-A26A-8E6F-28AD-7723266CCBD0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CB0D1B-7509-3615-0B5C-95BB37C29FA8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46DDDAC-77B6-B4B2-B951-CC168C9D361F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80794AE-C55E-4857-EA3E-47AB3C9E127F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8CA8EE-FBB7-FE19-8425-7F99E41DBD11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B5125F-0A58-8F06-CFCF-F19B4CA7710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23230D-649F-01CD-191F-2BA85F568C95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671BD9B9-8E25-E2F9-A942-0126DBB1B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07969B-0317-BE6F-3871-F544604DC607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FDD8-6DC8-C746-BED6-5A40773149AC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31095E-A3B0-3B5C-57CE-54C74035CB9D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0CFED4-5487-4691-6D4D-9EF91D32E521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2394BD-226C-6028-DBF7-BCAE734C9649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E9817-5E9E-4261-1490-0CDACF709193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EAAC62-5194-2299-82C4-3769210E92EF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DDC9CE-B25F-90D7-C3F2-F067AA5C2B76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1DA63A4-7B9B-4337-2EDA-75F8099D943F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006E04-AD7F-69A8-71A5-3C11861F74B4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D63E7-BAE4-7750-2F64-153F0D772170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60E935-A9D8-504A-F31A-09973C105E33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818EB6-E215-9303-45A6-AD2675718310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0AE3D6-6013-18B9-7A27-96EA60FFA9DC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30E2E7-950B-B103-F9F5-F31D296915A2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F31F1-5897-F074-C004-8B1CE17E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43779-D72B-7E01-E292-B8733140D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311" y="1398018"/>
            <a:ext cx="239077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27E26-74BE-565A-666D-199A2B0DF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8546" y="1545386"/>
            <a:ext cx="2390775" cy="489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6DEC5E-F75F-FF0C-C3B6-94940033F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9046" y="1735886"/>
            <a:ext cx="2381250" cy="4924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A4D9B5-80DB-6C72-AFF0-5C3878D7B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9546" y="1926386"/>
            <a:ext cx="2390775" cy="4924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14C9BD-A00A-E342-E8B7-FD984E2BE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0046" y="2116886"/>
            <a:ext cx="2390775" cy="4943475"/>
          </a:xfrm>
          <a:prstGeom prst="rect">
            <a:avLst/>
          </a:prstGeom>
        </p:spPr>
      </p:pic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2F55889F-B986-AE01-F569-5DED42547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87F5B31-2BC7-3DEE-1FD5-4EF849C893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390901" y="-3638819"/>
            <a:ext cx="2362200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93299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0966-8E45-53BF-C6CB-36364E4B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E5A3FC-3D7A-4AA2-FE31-A9586C7161A1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6E5E6F-341D-C938-C065-E8E63FD3614F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C0825EA-C4B9-0831-F568-896BB4E77A06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56026B7-D876-E93F-EE5D-28CA67560A10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12D3D3-3146-5848-50BE-F24A98A8FB48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AD61A4-2BB6-84D8-17F0-4B7E2982B81A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24B0A2C-993E-438B-5871-F3AC85317F2E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9E882EDE-625B-1B72-C3C8-EF43E17AF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FF798-0E29-CEB3-81B3-CCF624C579CC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8E799-ABD8-B018-877B-48105435578E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1E0619-6739-FAC0-8833-B24CF8B4364C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EB815B-C372-7E5A-1134-3C4C218BBED3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32FAC1-0EE7-320F-F4E9-5E590FC0BAC9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C7A241-C81F-955F-6A85-5E38735FDE07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EBDEF1-1C44-D59D-4300-5BA58FF77C71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97785EB-91A9-FBB9-BA43-AEC4BF851366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8CDF67-C74F-43EE-5B4E-3203E9AA48DE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07A848-A16B-FDB1-C2B9-C8F0D93C3489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CFE430-6CBC-7373-B5B2-B6027411D3E3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760EFE-98E8-63CD-DA78-C3E7C1534788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F8D7CD4-2444-1973-A2D7-E107D52A038C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EC6ABD-CCB9-E1C5-C56D-4CF06911A6DF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CE1EB3-8BD8-EB97-E1A2-2E488D361951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865A9-4B18-F57E-4CAC-0A5F3D108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0D1AE9-FD52-DEE0-F0EC-296CE11CE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30" y="1541792"/>
            <a:ext cx="239077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58A83C-B137-FD41-D09A-373D5D28B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8546" y="1545386"/>
            <a:ext cx="2390775" cy="489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2779C-1FD2-771B-40D6-504B26E31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9046" y="1735886"/>
            <a:ext cx="2381250" cy="4924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FD0378-671E-C4D1-FA5A-E8E486BFC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9546" y="1926386"/>
            <a:ext cx="2390775" cy="4924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C30762-E253-D3F7-1EA8-A11FF88D7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0046" y="2116886"/>
            <a:ext cx="23907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77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732F-EBE4-5ECF-FDFA-75CCA0D0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ECAB0B-A9AF-50B6-3333-C119EA8FE9A0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D7479C-D907-30D0-BA59-93D3DA412C29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175D8B-AA09-3B89-6EDC-429FEA56034F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EE46AD-E3E0-00C2-FCF1-781854AFEFCF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062B57-3DFB-700A-ED83-90783D131EEF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684147B-D963-7C10-EF5E-A83763A78E4A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139D34E-295E-740F-D616-E50D67FD5999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CDCA57F4-7889-AA3E-BFA5-B8EADB67E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D967D6-8682-97FA-8141-06BE454D76C6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0DB85-E002-6D51-553F-C91B6B7EF192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D36DBB-449D-1C68-8872-A2E457586D76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3E2DAB-EDCE-A355-62DB-04C6134B770A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FCA552-F192-864A-6E85-6ADAB8E2229D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F73B8-9186-9519-6020-DB48D48DBAA0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3F0A41-D82E-E6AE-8028-FBCC1505A129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AA89C29-82FD-2033-BF77-8D80F2B6C0F7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C853F68-F726-B441-9080-799FBD10F75F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D5FB93-6CEB-C737-21C3-0AA4E3A70F81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884ED1-8305-C831-80FF-CE6365C5093D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2C4D8E0-FCA4-4A4F-6B50-0BC4783A32C0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0E3191-57B5-A8D7-DBF3-EEDB685F5F9F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8A35BD-056C-90D4-5662-8A5DD349CFF4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EC6E5D-0F99-C198-8437-41E68D17B4E0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3BF75-076F-D2A7-24C3-AB79BA06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ECC1DD-7C97-C2B0-E6F1-85725442E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30" y="1541792"/>
            <a:ext cx="239077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993411-B0AB-21D8-A3C0-1576C1C52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23" y="1574141"/>
            <a:ext cx="2390775" cy="489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DBD187-7762-1502-20C2-0D3F3BB370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9046" y="1735886"/>
            <a:ext cx="2381250" cy="4924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C97C86-33B8-4924-68DC-36493C76E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9546" y="1926386"/>
            <a:ext cx="2390775" cy="4924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1F8112-2F44-A9FC-5AB2-0B670EDA6B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0046" y="2116886"/>
            <a:ext cx="23907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62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7B71E-185E-140B-472F-807735E3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FB386C-22E0-88FE-E0A7-2E109320EB17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62C721-F4A3-6369-BABF-EFDD85B3D941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0448FA7-F8B2-B7D6-3A44-F09A08D2B737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9D1F2F-CF70-1FA5-89BA-764E31C8A1EF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8F1724-2439-D0BE-DBBA-B4A86DDEAF29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2808F19-FCF5-1A82-0D86-A0A93FC61398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7BFF32-B434-933A-8EC6-B15DDF6F7E81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0C58A195-16FF-B76F-1B79-703E6D9F9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6F9C5D-CC77-FBE3-049F-A3DC35110ED0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31E58-D79E-7185-02AA-7AEE2AEA4C41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E91E84-EF6D-4FE9-BEBC-258EBBD59EC0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92BA27-B29C-D756-E7AB-CFC728E0F3D1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F964BB-665C-C4AF-7119-9A3B3AC84559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BFB741-E5F2-FF99-BF04-35BE75549A1E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468247-BB35-1C4B-62FC-FF3ACB9B6892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D87F18A-5C07-BA28-E2CC-0D824033FE60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616A05-7D7F-56D6-6725-C8BAA15CB494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0AF856-0386-4BC7-1936-5759CEB9E691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76DD31-7EF3-E199-4E33-685EDDC903A8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0369E78-3265-32D4-A01D-532ADD6B6F46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8BC4FD0-94DE-73C0-6270-8498A8541842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A5CD45-993C-E65C-B28E-CCB73382B90F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2EDAF7-899E-1A28-207F-6B95AF37A437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D56690-26D4-92F9-46B3-DDC05E979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50D1A-5BC7-DA7E-4ACB-FA1AA7BC3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30" y="1541792"/>
            <a:ext cx="239077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C6A00A-E903-F27E-06EA-6C006002A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23" y="1574141"/>
            <a:ext cx="2390775" cy="489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17830-8710-7D6C-4D6C-6FE21A479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518" y="1534603"/>
            <a:ext cx="2381250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8E2DF2-C85C-97E9-E44C-6E72F7E91D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0046" y="2116886"/>
            <a:ext cx="23907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12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C638-FB49-91DF-B404-A2B93BCC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D54B2-7D6E-AB05-2E48-A6D0E370D961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6C7412-5347-2780-C0DE-89313CADFD13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B7FDA8-6B79-AAF9-58A1-7DAD9E375CD3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7C1881-4F1E-24AB-7B49-56DDFFEE18D6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23B1C5-013A-BCCB-8FE9-8ED2C9E0BEEB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F5B7C0D-A85B-231E-B97B-F471EF0B8D5D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AEC281-4C0C-379D-8D95-DDF1744F62EF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CFAD592D-FC31-A47E-4B1E-4326FCCFD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F70759-F61A-0F41-93A6-6657AF6D66DF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48300-EF65-FDB0-2250-B4D41FFCA42A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F10A75-BEF8-5F60-71B9-C2C03E8AE399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C54A6C-2C28-A93D-A015-54432F949BA7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AB2021-E91A-FCD1-8AE3-C48BAF1CB5E5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B75F0-41A9-84F5-1313-AFA171E38F6C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5B3BD5-5EC8-A614-6402-CC5FB0BFB097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8AA819-4ACB-0E22-52E8-3BE33831FF95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69D24D-0A68-6A0C-982B-2159949FB816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1D7CEC-D30C-8BBE-556A-D6AAA017AFCB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9DCE09-B860-46F6-E415-7DB1A6447B4B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6CCE33-95F4-627E-CBC6-44B396F74242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4FBC0B4-2A19-35D1-E8AF-B80B3B4B3F94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0272AB-A770-3CDE-0E69-DCFF8EE8D865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DC73F6-91D9-2DB0-4B29-90FB91434391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453E9-DED7-7AC2-53AA-5CFAF342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AAD69-611B-E798-651C-0296CD9F3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30" y="1541792"/>
            <a:ext cx="239077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B4F21C-EBAA-A362-0B2C-39CBFE79C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23" y="1574141"/>
            <a:ext cx="2390775" cy="489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617290-D081-722C-A8F5-A83F9AAE8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518" y="1534603"/>
            <a:ext cx="2381250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809203-5100-D643-3AF2-F3A638A33D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329" y="1527414"/>
            <a:ext cx="2390775" cy="4943475"/>
          </a:xfrm>
          <a:prstGeom prst="rect">
            <a:avLst/>
          </a:prstGeom>
        </p:spPr>
      </p:pic>
      <p:pic>
        <p:nvPicPr>
          <p:cNvPr id="21" name="Picture 2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F8D35A0-E4AC-C1E4-0503-400FA2255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620000">
            <a:off x="13340123" y="487483"/>
            <a:ext cx="2390775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8943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921C-8D28-8DD8-D742-65D348C1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8715F8-B1A2-4B45-6670-A9E3F9E6B96D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4D73E8-97AA-22FF-B220-DEB04AD3684D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F9CF5CB-059A-9C9D-634E-A3BEEF59FA35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BC827AC-BE98-7729-2B34-C014382DED12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61B6E6-3968-1C8B-DCE2-F066CA3449EE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2268CAB-5421-090E-B8CE-893915B29457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D11AD0-3E79-8B0D-8905-105442DC8B37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FF0CD3F0-FE67-488B-59ED-C786AA3E6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A4060A-EEC3-A055-258F-28B3E2809AA9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patient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65A44-442F-8661-A8DB-BE093AE967A7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8B17E9-F336-5823-D848-5183482D1E05}"/>
              </a:ext>
            </a:extLst>
          </p:cNvPr>
          <p:cNvSpPr/>
          <p:nvPr/>
        </p:nvSpPr>
        <p:spPr>
          <a:xfrm>
            <a:off x="1092978" y="1627036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BF01F9-37CF-D178-D5BA-1703643967BA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E31C64-B1F3-2699-F1C1-21972B22BC52}"/>
              </a:ext>
            </a:extLst>
          </p:cNvPr>
          <p:cNvSpPr/>
          <p:nvPr/>
        </p:nvSpPr>
        <p:spPr>
          <a:xfrm>
            <a:off x="1207996" y="162703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35C9A6-B042-9AE2-726D-6539B348546B}"/>
              </a:ext>
            </a:extLst>
          </p:cNvPr>
          <p:cNvSpPr txBox="1"/>
          <p:nvPr/>
        </p:nvSpPr>
        <p:spPr>
          <a:xfrm>
            <a:off x="1227063" y="170767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Adaptive weekly quiz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4F1D06-0337-8453-2015-B0FC7B52600E}"/>
              </a:ext>
            </a:extLst>
          </p:cNvPr>
          <p:cNvSpPr txBox="1"/>
          <p:nvPr/>
        </p:nvSpPr>
        <p:spPr>
          <a:xfrm>
            <a:off x="1403890" y="205955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37BFADC-017C-053F-28AD-6BFF4450F8FC}"/>
              </a:ext>
            </a:extLst>
          </p:cNvPr>
          <p:cNvSpPr/>
          <p:nvPr/>
        </p:nvSpPr>
        <p:spPr>
          <a:xfrm>
            <a:off x="1107354" y="2877866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22FE73-2C57-35C4-AD3D-54C08B9FB218}"/>
              </a:ext>
            </a:extLst>
          </p:cNvPr>
          <p:cNvSpPr/>
          <p:nvPr/>
        </p:nvSpPr>
        <p:spPr>
          <a:xfrm>
            <a:off x="1222372" y="287786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E177EA-57A8-63AD-BE80-CB1ED4A44881}"/>
              </a:ext>
            </a:extLst>
          </p:cNvPr>
          <p:cNvSpPr txBox="1"/>
          <p:nvPr/>
        </p:nvSpPr>
        <p:spPr>
          <a:xfrm>
            <a:off x="1342080" y="2944132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Daily journal with feelings and reflections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960411-00B5-BCB0-AE8F-DA2C396F1A81}"/>
              </a:ext>
            </a:extLst>
          </p:cNvPr>
          <p:cNvSpPr txBox="1"/>
          <p:nvPr/>
        </p:nvSpPr>
        <p:spPr>
          <a:xfrm>
            <a:off x="1418266" y="3310386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E369201-8CD2-6162-5EBB-381A773C5A97}"/>
              </a:ext>
            </a:extLst>
          </p:cNvPr>
          <p:cNvSpPr/>
          <p:nvPr/>
        </p:nvSpPr>
        <p:spPr>
          <a:xfrm>
            <a:off x="1092978" y="4128696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0D7D939-1226-46A6-9B47-D774D7C69F80}"/>
              </a:ext>
            </a:extLst>
          </p:cNvPr>
          <p:cNvSpPr/>
          <p:nvPr/>
        </p:nvSpPr>
        <p:spPr>
          <a:xfrm>
            <a:off x="1222373" y="4128695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0C06A3-251B-5ABD-97AC-A137555E02FC}"/>
              </a:ext>
            </a:extLst>
          </p:cNvPr>
          <p:cNvSpPr txBox="1"/>
          <p:nvPr/>
        </p:nvSpPr>
        <p:spPr>
          <a:xfrm>
            <a:off x="1227063" y="4223716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Grounding Exercises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FBE450-49C1-DA2E-ECE1-116D8EF84C1D}"/>
              </a:ext>
            </a:extLst>
          </p:cNvPr>
          <p:cNvSpPr txBox="1"/>
          <p:nvPr/>
        </p:nvSpPr>
        <p:spPr>
          <a:xfrm>
            <a:off x="1432644" y="4532462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B6D2E6B-1E95-E2EB-FC20-C1AA2DCD6976}"/>
              </a:ext>
            </a:extLst>
          </p:cNvPr>
          <p:cNvSpPr/>
          <p:nvPr/>
        </p:nvSpPr>
        <p:spPr>
          <a:xfrm>
            <a:off x="1107354" y="5379525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1CDDC0E-8DEA-8964-640C-92EAE9F1E3CF}"/>
              </a:ext>
            </a:extLst>
          </p:cNvPr>
          <p:cNvSpPr/>
          <p:nvPr/>
        </p:nvSpPr>
        <p:spPr>
          <a:xfrm>
            <a:off x="1222372" y="5379524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43FCEA-6210-09DD-128F-7C03E4A07524}"/>
              </a:ext>
            </a:extLst>
          </p:cNvPr>
          <p:cNvSpPr txBox="1"/>
          <p:nvPr/>
        </p:nvSpPr>
        <p:spPr>
          <a:xfrm>
            <a:off x="968269" y="5445791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The Plant growth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DFECDB-6FB3-2F54-FA89-407B60A9CB3F}"/>
              </a:ext>
            </a:extLst>
          </p:cNvPr>
          <p:cNvSpPr txBox="1"/>
          <p:nvPr/>
        </p:nvSpPr>
        <p:spPr>
          <a:xfrm>
            <a:off x="1418266" y="5812045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 plant that grows with patients mental health. Score is counted carefully comparing past week with this 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2D443-15EE-9521-A994-0EA55AD8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92" y="1575399"/>
            <a:ext cx="2381250" cy="49149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0B3E1-4D52-C79E-7A59-846ED5920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30" y="1580162"/>
            <a:ext cx="2390775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D15D8-E0D8-15D4-C86A-42F4A2A0B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160952" y="-3677190"/>
            <a:ext cx="2390775" cy="4943475"/>
          </a:xfrm>
          <a:prstGeom prst="rect">
            <a:avLst/>
          </a:prstGeom>
        </p:spPr>
      </p:pic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8BF91CC9-0A4A-4C79-1ED0-BE90558D3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800000">
            <a:off x="13521008" y="409665"/>
            <a:ext cx="2390775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819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2514-B9E6-483A-04A2-AC2C27CD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8EDCE6-B318-8553-367A-7F7AEFB41075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A55804-A13E-B533-507F-C2E5C34D85F7}"/>
              </a:ext>
            </a:extLst>
          </p:cNvPr>
          <p:cNvGrpSpPr/>
          <p:nvPr/>
        </p:nvGrpSpPr>
        <p:grpSpPr>
          <a:xfrm rot="19680000">
            <a:off x="10512460" y="5367485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8B435B-F566-E7D0-5398-FB7CD4037B88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D364D03-9505-3D76-6DF1-DF1295771EE1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0DDC1C-9779-E98E-261A-0D1A535512E9}"/>
              </a:ext>
            </a:extLst>
          </p:cNvPr>
          <p:cNvGrpSpPr/>
          <p:nvPr/>
        </p:nvGrpSpPr>
        <p:grpSpPr>
          <a:xfrm>
            <a:off x="-1418447" y="-1515434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E816A0A-5050-3665-417A-32BDF2A2B4A1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531D7A-47E1-22FB-ED82-9EBC5FDA0D31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47295402-2B9D-FA77-3586-743F11109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B5ADFF-DEBC-F066-427E-8BB22E395C13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Therapist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D9DA66-055E-6BD8-1521-D9DACA02A72C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7D9E02-8C98-8643-D08A-C4294D3D937B}"/>
              </a:ext>
            </a:extLst>
          </p:cNvPr>
          <p:cNvSpPr/>
          <p:nvPr/>
        </p:nvSpPr>
        <p:spPr>
          <a:xfrm>
            <a:off x="1107355" y="1871451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C2013C-034D-D1D6-631D-8008807B275F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4A95B2-A8B9-2E13-4258-F8298DCDDACA}"/>
              </a:ext>
            </a:extLst>
          </p:cNvPr>
          <p:cNvSpPr/>
          <p:nvPr/>
        </p:nvSpPr>
        <p:spPr>
          <a:xfrm>
            <a:off x="1222373" y="1871450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A2D06-2D22-26B6-C979-71085C0E0464}"/>
              </a:ext>
            </a:extLst>
          </p:cNvPr>
          <p:cNvSpPr txBox="1"/>
          <p:nvPr/>
        </p:nvSpPr>
        <p:spPr>
          <a:xfrm>
            <a:off x="1112044" y="1937716"/>
            <a:ext cx="3317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Accepts patient requests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2CCA24-AD9E-9A67-0E06-FCFAA298E3DC}"/>
              </a:ext>
            </a:extLst>
          </p:cNvPr>
          <p:cNvSpPr txBox="1"/>
          <p:nvPr/>
        </p:nvSpPr>
        <p:spPr>
          <a:xfrm>
            <a:off x="1418267" y="2303971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AD0CED2-FF8D-42E3-D61D-F618DD0C4716}"/>
              </a:ext>
            </a:extLst>
          </p:cNvPr>
          <p:cNvSpPr/>
          <p:nvPr/>
        </p:nvSpPr>
        <p:spPr>
          <a:xfrm>
            <a:off x="-5017400" y="3179790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9084EE-AFC5-6DDA-6D76-414006362D99}"/>
              </a:ext>
            </a:extLst>
          </p:cNvPr>
          <p:cNvSpPr/>
          <p:nvPr/>
        </p:nvSpPr>
        <p:spPr>
          <a:xfrm>
            <a:off x="-4902382" y="3179789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7F88F5-66DC-A0D7-7CDD-89184C702631}"/>
              </a:ext>
            </a:extLst>
          </p:cNvPr>
          <p:cNvSpPr txBox="1"/>
          <p:nvPr/>
        </p:nvSpPr>
        <p:spPr>
          <a:xfrm>
            <a:off x="-5674070" y="3246056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Receives weekly report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F4437D-C121-F89A-4FCA-821A222321DF}"/>
              </a:ext>
            </a:extLst>
          </p:cNvPr>
          <p:cNvSpPr txBox="1"/>
          <p:nvPr/>
        </p:nvSpPr>
        <p:spPr>
          <a:xfrm>
            <a:off x="-4706488" y="3612310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3E17993-7B79-5BDB-7E88-8855BC9FA084}"/>
              </a:ext>
            </a:extLst>
          </p:cNvPr>
          <p:cNvSpPr/>
          <p:nvPr/>
        </p:nvSpPr>
        <p:spPr>
          <a:xfrm>
            <a:off x="-4988645" y="4560017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4B424B1-D055-1400-15FB-42DE6DF5C965}"/>
              </a:ext>
            </a:extLst>
          </p:cNvPr>
          <p:cNvSpPr/>
          <p:nvPr/>
        </p:nvSpPr>
        <p:spPr>
          <a:xfrm>
            <a:off x="-4859250" y="4560016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545845-B807-1608-B0B3-76B347D6C9B2}"/>
              </a:ext>
            </a:extLst>
          </p:cNvPr>
          <p:cNvSpPr txBox="1"/>
          <p:nvPr/>
        </p:nvSpPr>
        <p:spPr>
          <a:xfrm>
            <a:off x="-4696409" y="459752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Sends weekly feedback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1FB8F1-2109-B8D5-AA06-5F2E27D2B5FC}"/>
              </a:ext>
            </a:extLst>
          </p:cNvPr>
          <p:cNvSpPr txBox="1"/>
          <p:nvPr/>
        </p:nvSpPr>
        <p:spPr>
          <a:xfrm>
            <a:off x="-4648979" y="4963783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E8147-C265-574B-92CD-FA875AAA9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3489" y="1642524"/>
            <a:ext cx="2381250" cy="4924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7ED13E-FE29-9C23-C82F-12BF7B56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38" y="1444835"/>
            <a:ext cx="2390775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AD8A49-0C92-C6B2-5AAA-B5DAA3349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0941" y="1922882"/>
            <a:ext cx="2400300" cy="4933950"/>
          </a:xfrm>
          <a:prstGeom prst="rect">
            <a:avLst/>
          </a:prstGeom>
        </p:spPr>
      </p:pic>
      <p:pic>
        <p:nvPicPr>
          <p:cNvPr id="18" name="Picture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F596650-2984-8745-7B37-ABBD263EF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32839" y="-3782593"/>
            <a:ext cx="2390775" cy="490537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0544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20D3-9745-2941-CF88-05BEF5B8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811650-6359-4801-70BD-4D8BF35462C3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6293A7-880E-667B-CE9A-F3A61D4B5BEA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2BF52B-1A44-8815-C551-F096999C65B3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3D308E2-5E52-3C6A-BB10-C837865F063D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A1DDC7-472C-BA89-F974-2FC5EDB44358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9C7577-4F0D-76FB-D8EA-34D18643EC62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5AB799-E2D9-C8AC-A9FF-C05C2F47F8B0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ECDA8391-EB09-32DC-FD9C-45A225892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2F0ABA-E143-7C62-B291-4CCB4AB2FAF2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Therapist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CFDE4-C608-B599-EED2-6BA2BAD6593D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B6C33F-9C0A-3EBF-39B2-41C6B46592F7}"/>
              </a:ext>
            </a:extLst>
          </p:cNvPr>
          <p:cNvSpPr/>
          <p:nvPr/>
        </p:nvSpPr>
        <p:spPr>
          <a:xfrm>
            <a:off x="1107355" y="1871451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78BA15-742C-0228-A10A-60A0B606BE2C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EF9B50-D5B8-8C56-09C6-D940B462F2E0}"/>
              </a:ext>
            </a:extLst>
          </p:cNvPr>
          <p:cNvSpPr/>
          <p:nvPr/>
        </p:nvSpPr>
        <p:spPr>
          <a:xfrm>
            <a:off x="1222373" y="1871450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633080-4A64-5C77-F97B-3AC48E4C20D0}"/>
              </a:ext>
            </a:extLst>
          </p:cNvPr>
          <p:cNvSpPr txBox="1"/>
          <p:nvPr/>
        </p:nvSpPr>
        <p:spPr>
          <a:xfrm>
            <a:off x="1112044" y="1937716"/>
            <a:ext cx="3317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Accepts patient requests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219B2-5036-CFED-374D-9BC46E829600}"/>
              </a:ext>
            </a:extLst>
          </p:cNvPr>
          <p:cNvSpPr txBox="1"/>
          <p:nvPr/>
        </p:nvSpPr>
        <p:spPr>
          <a:xfrm>
            <a:off x="1418267" y="2303971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9C5F7C-A736-D61E-110D-8534DF2CF770}"/>
              </a:ext>
            </a:extLst>
          </p:cNvPr>
          <p:cNvSpPr/>
          <p:nvPr/>
        </p:nvSpPr>
        <p:spPr>
          <a:xfrm>
            <a:off x="1092977" y="3208545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12EEF55-D728-4D73-FC85-4025355A7D20}"/>
              </a:ext>
            </a:extLst>
          </p:cNvPr>
          <p:cNvSpPr/>
          <p:nvPr/>
        </p:nvSpPr>
        <p:spPr>
          <a:xfrm>
            <a:off x="1207995" y="3208544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44E689-1E18-71B9-9BA3-38E4C4E48435}"/>
              </a:ext>
            </a:extLst>
          </p:cNvPr>
          <p:cNvSpPr txBox="1"/>
          <p:nvPr/>
        </p:nvSpPr>
        <p:spPr>
          <a:xfrm>
            <a:off x="436307" y="3274811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Receives weekly report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991311-6DF1-CF0D-F5FB-E42E8C765D32}"/>
              </a:ext>
            </a:extLst>
          </p:cNvPr>
          <p:cNvSpPr txBox="1"/>
          <p:nvPr/>
        </p:nvSpPr>
        <p:spPr>
          <a:xfrm>
            <a:off x="1403889" y="3641065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8FAF024-9DEF-4778-5543-FFAECD05CBFA}"/>
              </a:ext>
            </a:extLst>
          </p:cNvPr>
          <p:cNvSpPr/>
          <p:nvPr/>
        </p:nvSpPr>
        <p:spPr>
          <a:xfrm>
            <a:off x="-4974268" y="4631904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3F2C5ED-12B3-38DB-0591-0A35F9B4C0BF}"/>
              </a:ext>
            </a:extLst>
          </p:cNvPr>
          <p:cNvSpPr/>
          <p:nvPr/>
        </p:nvSpPr>
        <p:spPr>
          <a:xfrm>
            <a:off x="-4844873" y="4631903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42D4DF-90AD-ED17-5F03-699191721CB9}"/>
              </a:ext>
            </a:extLst>
          </p:cNvPr>
          <p:cNvSpPr txBox="1"/>
          <p:nvPr/>
        </p:nvSpPr>
        <p:spPr>
          <a:xfrm>
            <a:off x="-4682032" y="4669415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Sends weekly feedback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88DA9F-9E74-7945-8864-B71E977153AA}"/>
              </a:ext>
            </a:extLst>
          </p:cNvPr>
          <p:cNvSpPr txBox="1"/>
          <p:nvPr/>
        </p:nvSpPr>
        <p:spPr>
          <a:xfrm>
            <a:off x="-4634602" y="5035670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1DB20-1627-1CC5-50B4-7B3B70DB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838" y="1444835"/>
            <a:ext cx="2390775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5BEDE4-A697-E8F9-C036-59FE593A3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43" y="1441241"/>
            <a:ext cx="2381250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E2B02-1373-2536-E7E8-6B6736992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7583" y="1448429"/>
            <a:ext cx="2400300" cy="493395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9065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3E60-A551-EB99-25CD-CE0DB158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760CCA-4807-14BD-6FE7-C10AA7566A07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BCD9F2-381F-5267-F597-C0AE2A11E3BB}"/>
              </a:ext>
            </a:extLst>
          </p:cNvPr>
          <p:cNvGrpSpPr/>
          <p:nvPr/>
        </p:nvGrpSpPr>
        <p:grpSpPr>
          <a:xfrm rot="16620000">
            <a:off x="10411819" y="-1346741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BAC974E-B9CA-0933-DEA7-E6A5712B18D6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8BEBF4-E220-CF39-6CA1-2EB047B810EE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B9368-00E8-9EA3-1850-86AF87FAF022}"/>
              </a:ext>
            </a:extLst>
          </p:cNvPr>
          <p:cNvGrpSpPr/>
          <p:nvPr/>
        </p:nvGrpSpPr>
        <p:grpSpPr>
          <a:xfrm rot="18840000">
            <a:off x="-1130900" y="5184415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0C0670-B03A-EDD7-AD7E-9CA034E31E5C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8FC93C-F013-F5E6-526C-2558E1D743F0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A28E0A42-1674-B736-D1EE-031095D48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2" y="333862"/>
            <a:ext cx="2153501" cy="552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4679E0-64C4-F7FB-72FD-6DA00EBFD98D}"/>
              </a:ext>
            </a:extLst>
          </p:cNvPr>
          <p:cNvSpPr txBox="1"/>
          <p:nvPr/>
        </p:nvSpPr>
        <p:spPr>
          <a:xfrm>
            <a:off x="296517" y="445481"/>
            <a:ext cx="2443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858E6D"/>
                </a:solidFill>
                <a:latin typeface="Aptos"/>
                <a:ea typeface="Nirmala UI"/>
                <a:cs typeface="Nirmala UI"/>
              </a:rPr>
              <a:t>The Therapist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2EE44-D4E9-0BB0-99EA-DBBC7B25FB58}"/>
              </a:ext>
            </a:extLst>
          </p:cNvPr>
          <p:cNvSpPr txBox="1"/>
          <p:nvPr/>
        </p:nvSpPr>
        <p:spPr>
          <a:xfrm>
            <a:off x="10708435" y="6011532"/>
            <a:ext cx="1152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2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D9856B-19CB-3819-F1BE-219F1C351F63}"/>
              </a:ext>
            </a:extLst>
          </p:cNvPr>
          <p:cNvSpPr/>
          <p:nvPr/>
        </p:nvSpPr>
        <p:spPr>
          <a:xfrm>
            <a:off x="1107355" y="1871451"/>
            <a:ext cx="4876622" cy="1093875"/>
          </a:xfrm>
          <a:prstGeom prst="roundRect">
            <a:avLst/>
          </a:prstGeom>
          <a:solidFill>
            <a:srgbClr val="858E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264ED5-73F3-4D60-49BF-042083B470D0}"/>
              </a:ext>
            </a:extLst>
          </p:cNvPr>
          <p:cNvSpPr txBox="1"/>
          <p:nvPr/>
        </p:nvSpPr>
        <p:spPr>
          <a:xfrm>
            <a:off x="971670" y="894687"/>
            <a:ext cx="39115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a week in </a:t>
            </a:r>
            <a:r>
              <a:rPr lang="en-US" sz="3600" b="1" dirty="0">
                <a:solidFill>
                  <a:srgbClr val="858E6D"/>
                </a:solidFill>
                <a:latin typeface="Baguet Script"/>
                <a:ea typeface="Nirmala UI"/>
                <a:cs typeface="Nirmala UI"/>
              </a:rPr>
              <a:t>Calmly</a:t>
            </a:r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5AFC93-9DA5-AB7B-66AC-31CC63CEE7B7}"/>
              </a:ext>
            </a:extLst>
          </p:cNvPr>
          <p:cNvSpPr/>
          <p:nvPr/>
        </p:nvSpPr>
        <p:spPr>
          <a:xfrm>
            <a:off x="1222373" y="1871450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1F2EC-7FF2-66AC-1143-2DC968126400}"/>
              </a:ext>
            </a:extLst>
          </p:cNvPr>
          <p:cNvSpPr txBox="1"/>
          <p:nvPr/>
        </p:nvSpPr>
        <p:spPr>
          <a:xfrm>
            <a:off x="1112044" y="1937716"/>
            <a:ext cx="3317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Accepts patient requests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C6117A-5AF5-90ED-8FF5-23EE20B2C845}"/>
              </a:ext>
            </a:extLst>
          </p:cNvPr>
          <p:cNvSpPr txBox="1"/>
          <p:nvPr/>
        </p:nvSpPr>
        <p:spPr>
          <a:xfrm>
            <a:off x="1418267" y="2303971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5 questions – written fresh by AI for this patient's weakest dimensions, never repeating.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AB9E37-501F-CB68-FF17-21C068856643}"/>
              </a:ext>
            </a:extLst>
          </p:cNvPr>
          <p:cNvSpPr/>
          <p:nvPr/>
        </p:nvSpPr>
        <p:spPr>
          <a:xfrm>
            <a:off x="1092977" y="3208545"/>
            <a:ext cx="4876622" cy="1093875"/>
          </a:xfrm>
          <a:prstGeom prst="roundRect">
            <a:avLst/>
          </a:prstGeom>
          <a:solidFill>
            <a:srgbClr val="2E54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313B71-9139-4515-AB19-5EE964E1DDCE}"/>
              </a:ext>
            </a:extLst>
          </p:cNvPr>
          <p:cNvSpPr/>
          <p:nvPr/>
        </p:nvSpPr>
        <p:spPr>
          <a:xfrm>
            <a:off x="1207995" y="3208544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AE9847-92CF-29BB-DB73-9AEC9E6CCC36}"/>
              </a:ext>
            </a:extLst>
          </p:cNvPr>
          <p:cNvSpPr txBox="1"/>
          <p:nvPr/>
        </p:nvSpPr>
        <p:spPr>
          <a:xfrm>
            <a:off x="436307" y="3274811"/>
            <a:ext cx="4568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Receives weekly report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8A180A-DAC8-DCBB-96C2-9199A8A3F785}"/>
              </a:ext>
            </a:extLst>
          </p:cNvPr>
          <p:cNvSpPr txBox="1"/>
          <p:nvPr/>
        </p:nvSpPr>
        <p:spPr>
          <a:xfrm>
            <a:off x="1403889" y="3641065"/>
            <a:ext cx="47636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Mood + Sleep check-in. Entries are password protected, and AI reads them to personalize everything downstream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212885A-4ECE-9DAB-28C5-AF7728E2E384}"/>
              </a:ext>
            </a:extLst>
          </p:cNvPr>
          <p:cNvSpPr/>
          <p:nvPr/>
        </p:nvSpPr>
        <p:spPr>
          <a:xfrm>
            <a:off x="1107355" y="4560017"/>
            <a:ext cx="4876622" cy="1093875"/>
          </a:xfrm>
          <a:prstGeom prst="roundRect">
            <a:avLst/>
          </a:prstGeom>
          <a:solidFill>
            <a:srgbClr val="692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EB60620-F7D0-AC11-350C-F2F00F27CE57}"/>
              </a:ext>
            </a:extLst>
          </p:cNvPr>
          <p:cNvSpPr/>
          <p:nvPr/>
        </p:nvSpPr>
        <p:spPr>
          <a:xfrm>
            <a:off x="1236750" y="4560016"/>
            <a:ext cx="4761603" cy="1093875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68EB96-3295-1464-44B2-EFDA8070D0DF}"/>
              </a:ext>
            </a:extLst>
          </p:cNvPr>
          <p:cNvSpPr txBox="1"/>
          <p:nvPr/>
        </p:nvSpPr>
        <p:spPr>
          <a:xfrm>
            <a:off x="1399591" y="4597528"/>
            <a:ext cx="2685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E5460"/>
                </a:solidFill>
              </a:rPr>
              <a:t>Sends weekly feedback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05E531-D40E-5DBC-15E1-547DAD9C9D16}"/>
              </a:ext>
            </a:extLst>
          </p:cNvPr>
          <p:cNvSpPr txBox="1"/>
          <p:nvPr/>
        </p:nvSpPr>
        <p:spPr>
          <a:xfrm>
            <a:off x="1447021" y="4963783"/>
            <a:ext cx="476369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Guided breathing, sound therapy, color matcher for mind deviation – plus CALMLY GARDEN a vision tracked relaxation game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14943-EA0B-5C47-3817-6845E6184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838" y="1444835"/>
            <a:ext cx="2390775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BE834B-11F1-1D89-65D4-82C16B1FB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43" y="1441241"/>
            <a:ext cx="2381250" cy="492442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50457-D51E-95D3-5C98-69AA51129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677" y="1448429"/>
            <a:ext cx="2400300" cy="493395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6078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9015-169A-1747-A647-885D5DAF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4008E5-47CA-E6BF-FEC6-D76ABBCABDF8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DEB23-44DC-0D2A-D99E-7973B6BDC981}"/>
              </a:ext>
            </a:extLst>
          </p:cNvPr>
          <p:cNvSpPr txBox="1"/>
          <p:nvPr/>
        </p:nvSpPr>
        <p:spPr>
          <a:xfrm>
            <a:off x="3519756" y="1295758"/>
            <a:ext cx="43734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60540-77B1-4512-4C62-0ECF2D5D20ED}"/>
              </a:ext>
            </a:extLst>
          </p:cNvPr>
          <p:cNvSpPr txBox="1"/>
          <p:nvPr/>
        </p:nvSpPr>
        <p:spPr>
          <a:xfrm>
            <a:off x="2209022" y="5380727"/>
            <a:ext cx="77685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E6E3DC"/>
                </a:solidFill>
              </a:rPr>
              <a:t>Built with Next.js .  </a:t>
            </a:r>
            <a:r>
              <a:rPr lang="en-US" sz="2000" dirty="0" err="1">
                <a:solidFill>
                  <a:srgbClr val="E6E3DC"/>
                </a:solidFill>
              </a:rPr>
              <a:t>Mongodb</a:t>
            </a:r>
            <a:r>
              <a:rPr lang="en-US" sz="2000" dirty="0">
                <a:solidFill>
                  <a:srgbClr val="E6E3DC"/>
                </a:solidFill>
              </a:rPr>
              <a:t> Atlas . Gemini &amp; </a:t>
            </a:r>
            <a:r>
              <a:rPr lang="en-US" sz="2000" dirty="0" err="1">
                <a:solidFill>
                  <a:srgbClr val="E6E3DC"/>
                </a:solidFill>
              </a:rPr>
              <a:t>Groq</a:t>
            </a:r>
            <a:r>
              <a:rPr lang="en-US" sz="2000" dirty="0">
                <a:solidFill>
                  <a:srgbClr val="E6E3DC"/>
                </a:solidFill>
              </a:rPr>
              <a:t> .  </a:t>
            </a:r>
            <a:r>
              <a:rPr lang="en-US" sz="2000" dirty="0" err="1">
                <a:solidFill>
                  <a:srgbClr val="E6E3DC"/>
                </a:solidFill>
              </a:rPr>
              <a:t>MediaPipe</a:t>
            </a:r>
            <a:r>
              <a:rPr lang="en-US" sz="2000" dirty="0">
                <a:solidFill>
                  <a:srgbClr val="E6E3DC"/>
                </a:solidFill>
              </a:rPr>
              <a:t> 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72426F-E33F-F57C-AD96-76F6E2291B88}"/>
              </a:ext>
            </a:extLst>
          </p:cNvPr>
          <p:cNvGrpSpPr/>
          <p:nvPr/>
        </p:nvGrpSpPr>
        <p:grpSpPr>
          <a:xfrm>
            <a:off x="-1258571" y="-1026796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1C23EC-C950-BD9D-03D8-1681590699AF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ECE65B-10D1-44E8-5F66-E5F690DBDB39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6FD828-9916-0C23-ACA3-8488F59252D1}"/>
              </a:ext>
            </a:extLst>
          </p:cNvPr>
          <p:cNvGrpSpPr/>
          <p:nvPr/>
        </p:nvGrpSpPr>
        <p:grpSpPr>
          <a:xfrm>
            <a:off x="10354309" y="4835524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C39101-3797-0CD3-3139-C9C07AB2CB51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8C18FD-E213-A4C3-D1CE-30337539BF22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EBFD15-50CE-C000-14BB-64033EC7F876}"/>
              </a:ext>
            </a:extLst>
          </p:cNvPr>
          <p:cNvSpPr txBox="1"/>
          <p:nvPr/>
        </p:nvSpPr>
        <p:spPr>
          <a:xfrm>
            <a:off x="1647406" y="2131141"/>
            <a:ext cx="8339766" cy="12434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Lets make the space between sessions count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B1CFF3-6E49-912A-F032-096CB43BC7CD}"/>
              </a:ext>
            </a:extLst>
          </p:cNvPr>
          <p:cNvSpPr txBox="1"/>
          <p:nvPr/>
        </p:nvSpPr>
        <p:spPr>
          <a:xfrm>
            <a:off x="3519755" y="5580210"/>
            <a:ext cx="43734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rgbClr val="858E6D"/>
                </a:solidFill>
                <a:latin typeface="Baguet Script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559308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BDDC4-AE65-5AAE-6305-99066884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4BCA23-66A9-36D8-38EB-2EB9F4414C18}"/>
              </a:ext>
            </a:extLst>
          </p:cNvPr>
          <p:cNvSpPr/>
          <p:nvPr/>
        </p:nvSpPr>
        <p:spPr>
          <a:xfrm>
            <a:off x="-3296" y="-4494"/>
            <a:ext cx="12213865" cy="6863091"/>
          </a:xfrm>
          <a:prstGeom prst="rect">
            <a:avLst/>
          </a:prstGeom>
          <a:solidFill>
            <a:srgbClr val="A7B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BEA398-9684-E437-30C2-18B6638848DA}"/>
              </a:ext>
            </a:extLst>
          </p:cNvPr>
          <p:cNvSpPr txBox="1"/>
          <p:nvPr/>
        </p:nvSpPr>
        <p:spPr>
          <a:xfrm>
            <a:off x="3519756" y="1295758"/>
            <a:ext cx="43734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rgbClr val="858E6D"/>
                </a:solidFill>
                <a:latin typeface="Baguet Script"/>
              </a:rPr>
              <a:t>Calmly</a:t>
            </a:r>
            <a:endParaRPr lang="en-US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1AB31-4565-B2E2-83A0-7FF6F17F92F7}"/>
              </a:ext>
            </a:extLst>
          </p:cNvPr>
          <p:cNvSpPr txBox="1"/>
          <p:nvPr/>
        </p:nvSpPr>
        <p:spPr>
          <a:xfrm>
            <a:off x="2209022" y="5380727"/>
            <a:ext cx="77685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E6E3DC"/>
                </a:solidFill>
              </a:rPr>
              <a:t>Built with Next.js .  </a:t>
            </a:r>
            <a:r>
              <a:rPr lang="en-US" sz="2000" dirty="0" err="1">
                <a:solidFill>
                  <a:srgbClr val="E6E3DC"/>
                </a:solidFill>
              </a:rPr>
              <a:t>Mongodb</a:t>
            </a:r>
            <a:r>
              <a:rPr lang="en-US" sz="2000" dirty="0">
                <a:solidFill>
                  <a:srgbClr val="E6E3DC"/>
                </a:solidFill>
              </a:rPr>
              <a:t> Atlas . Gemini &amp; </a:t>
            </a:r>
            <a:r>
              <a:rPr lang="en-US" sz="2000" dirty="0" err="1">
                <a:solidFill>
                  <a:srgbClr val="E6E3DC"/>
                </a:solidFill>
              </a:rPr>
              <a:t>Groq</a:t>
            </a:r>
            <a:r>
              <a:rPr lang="en-US" sz="2000" dirty="0">
                <a:solidFill>
                  <a:srgbClr val="E6E3DC"/>
                </a:solidFill>
              </a:rPr>
              <a:t> .  </a:t>
            </a:r>
            <a:r>
              <a:rPr lang="en-US" sz="2000" dirty="0" err="1">
                <a:solidFill>
                  <a:srgbClr val="E6E3DC"/>
                </a:solidFill>
              </a:rPr>
              <a:t>MediaPipe</a:t>
            </a:r>
            <a:r>
              <a:rPr lang="en-US" sz="2000" dirty="0">
                <a:solidFill>
                  <a:srgbClr val="E6E3DC"/>
                </a:solidFill>
              </a:rPr>
              <a:t> 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749D88-FEFE-75E4-D45D-2A33EA4C27DC}"/>
              </a:ext>
            </a:extLst>
          </p:cNvPr>
          <p:cNvGrpSpPr/>
          <p:nvPr/>
        </p:nvGrpSpPr>
        <p:grpSpPr>
          <a:xfrm>
            <a:off x="-1258571" y="-1026796"/>
            <a:ext cx="3134995" cy="2957195"/>
            <a:chOff x="-1258571" y="-1026796"/>
            <a:chExt cx="3134995" cy="2957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73D906-0C69-C8FC-556E-A82081849BD6}"/>
                </a:ext>
              </a:extLst>
            </p:cNvPr>
            <p:cNvSpPr/>
            <p:nvPr/>
          </p:nvSpPr>
          <p:spPr>
            <a:xfrm>
              <a:off x="-1258571" y="-1026796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4040" y="687041"/>
                    <a:pt x="676169" y="15120"/>
                    <a:pt x="1567498" y="0"/>
                  </a:cubicBezTo>
                  <a:cubicBezTo>
                    <a:pt x="2357152" y="18651"/>
                    <a:pt x="3180385" y="766708"/>
                    <a:pt x="3134996" y="1478598"/>
                  </a:cubicBezTo>
                  <a:cubicBezTo>
                    <a:pt x="3165396" y="2147504"/>
                    <a:pt x="2393316" y="2858065"/>
                    <a:pt x="1567498" y="2957196"/>
                  </a:cubicBezTo>
                  <a:cubicBezTo>
                    <a:pt x="716299" y="2956903"/>
                    <a:pt x="-11453" y="2315160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1841" y="509920"/>
                    <a:pt x="795038" y="81266"/>
                    <a:pt x="1567498" y="0"/>
                  </a:cubicBezTo>
                  <a:cubicBezTo>
                    <a:pt x="2326012" y="16879"/>
                    <a:pt x="3186112" y="645764"/>
                    <a:pt x="3134996" y="1478598"/>
                  </a:cubicBezTo>
                  <a:cubicBezTo>
                    <a:pt x="3076779" y="2172266"/>
                    <a:pt x="2353171" y="3015327"/>
                    <a:pt x="1567498" y="2957196"/>
                  </a:cubicBezTo>
                  <a:cubicBezTo>
                    <a:pt x="678912" y="2945367"/>
                    <a:pt x="-114813" y="2302238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09651708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7047BF7-2E43-362D-861E-6AD5F46672C4}"/>
                </a:ext>
              </a:extLst>
            </p:cNvPr>
            <p:cNvSpPr/>
            <p:nvPr/>
          </p:nvSpPr>
          <p:spPr>
            <a:xfrm>
              <a:off x="-1258570" y="-1026795"/>
              <a:ext cx="2890580" cy="2741535"/>
            </a:xfrm>
            <a:custGeom>
              <a:avLst/>
              <a:gdLst>
                <a:gd name="csX0" fmla="*/ 0 w 2890580"/>
                <a:gd name="csY0" fmla="*/ 1370768 h 2741535"/>
                <a:gd name="csX1" fmla="*/ 1445290 w 2890580"/>
                <a:gd name="csY1" fmla="*/ 0 h 2741535"/>
                <a:gd name="csX2" fmla="*/ 2890580 w 2890580"/>
                <a:gd name="csY2" fmla="*/ 1370768 h 2741535"/>
                <a:gd name="csX3" fmla="*/ 1445290 w 2890580"/>
                <a:gd name="csY3" fmla="*/ 2741536 h 2741535"/>
                <a:gd name="csX4" fmla="*/ 0 w 2890580"/>
                <a:gd name="csY4" fmla="*/ 1370768 h 2741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90580" h="2741535" extrusionOk="0">
                  <a:moveTo>
                    <a:pt x="0" y="1370768"/>
                  </a:moveTo>
                  <a:cubicBezTo>
                    <a:pt x="-19563" y="552305"/>
                    <a:pt x="560102" y="7489"/>
                    <a:pt x="1445290" y="0"/>
                  </a:cubicBezTo>
                  <a:cubicBezTo>
                    <a:pt x="2165250" y="109015"/>
                    <a:pt x="2801271" y="519839"/>
                    <a:pt x="2890580" y="1370768"/>
                  </a:cubicBezTo>
                  <a:cubicBezTo>
                    <a:pt x="2940908" y="2212898"/>
                    <a:pt x="2308487" y="2759051"/>
                    <a:pt x="1445290" y="2741536"/>
                  </a:cubicBezTo>
                  <a:cubicBezTo>
                    <a:pt x="557519" y="2803698"/>
                    <a:pt x="-8623" y="2120063"/>
                    <a:pt x="0" y="1370768"/>
                  </a:cubicBezTo>
                  <a:close/>
                </a:path>
              </a:pathLst>
            </a:custGeom>
            <a:noFill/>
            <a:ln>
              <a:solidFill>
                <a:srgbClr val="F0EFEA">
                  <a:alpha val="7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60C6C1-F366-0596-B987-0D1A755B8181}"/>
              </a:ext>
            </a:extLst>
          </p:cNvPr>
          <p:cNvGrpSpPr/>
          <p:nvPr/>
        </p:nvGrpSpPr>
        <p:grpSpPr>
          <a:xfrm>
            <a:off x="10354309" y="4835524"/>
            <a:ext cx="3134995" cy="2975216"/>
            <a:chOff x="10354309" y="4835524"/>
            <a:chExt cx="3134995" cy="29752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EAF3CE0-0B58-BA8D-4DDE-76BD58E720DD}"/>
                </a:ext>
              </a:extLst>
            </p:cNvPr>
            <p:cNvSpPr/>
            <p:nvPr/>
          </p:nvSpPr>
          <p:spPr>
            <a:xfrm>
              <a:off x="10354309" y="4835524"/>
              <a:ext cx="3134995" cy="2957195"/>
            </a:xfrm>
            <a:custGeom>
              <a:avLst/>
              <a:gdLst>
                <a:gd name="csX0" fmla="*/ 0 w 3134995"/>
                <a:gd name="csY0" fmla="*/ 1478598 h 2957195"/>
                <a:gd name="csX1" fmla="*/ 1567498 w 3134995"/>
                <a:gd name="csY1" fmla="*/ 0 h 2957195"/>
                <a:gd name="csX2" fmla="*/ 3134996 w 3134995"/>
                <a:gd name="csY2" fmla="*/ 1478598 h 2957195"/>
                <a:gd name="csX3" fmla="*/ 1567498 w 3134995"/>
                <a:gd name="csY3" fmla="*/ 2957196 h 2957195"/>
                <a:gd name="csX4" fmla="*/ 0 w 3134995"/>
                <a:gd name="csY4" fmla="*/ 1478598 h 2957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34995" h="2957195" fill="none" extrusionOk="0">
                  <a:moveTo>
                    <a:pt x="0" y="1478598"/>
                  </a:moveTo>
                  <a:cubicBezTo>
                    <a:pt x="-81289" y="746531"/>
                    <a:pt x="549608" y="-42020"/>
                    <a:pt x="1567498" y="0"/>
                  </a:cubicBezTo>
                  <a:cubicBezTo>
                    <a:pt x="2350803" y="-119242"/>
                    <a:pt x="3076981" y="738958"/>
                    <a:pt x="3134996" y="1478598"/>
                  </a:cubicBezTo>
                  <a:cubicBezTo>
                    <a:pt x="3074482" y="2286679"/>
                    <a:pt x="2433113" y="2825080"/>
                    <a:pt x="1567498" y="2957196"/>
                  </a:cubicBezTo>
                  <a:cubicBezTo>
                    <a:pt x="658057" y="2998359"/>
                    <a:pt x="84166" y="2247916"/>
                    <a:pt x="0" y="1478598"/>
                  </a:cubicBezTo>
                  <a:close/>
                </a:path>
                <a:path w="3134995" h="2957195" stroke="0" extrusionOk="0">
                  <a:moveTo>
                    <a:pt x="0" y="1478598"/>
                  </a:moveTo>
                  <a:cubicBezTo>
                    <a:pt x="-89419" y="525291"/>
                    <a:pt x="680663" y="58263"/>
                    <a:pt x="1567498" y="0"/>
                  </a:cubicBezTo>
                  <a:cubicBezTo>
                    <a:pt x="2366874" y="20512"/>
                    <a:pt x="3114947" y="628955"/>
                    <a:pt x="3134996" y="1478598"/>
                  </a:cubicBezTo>
                  <a:cubicBezTo>
                    <a:pt x="3295906" y="2355368"/>
                    <a:pt x="2541416" y="2925008"/>
                    <a:pt x="1567498" y="2957196"/>
                  </a:cubicBezTo>
                  <a:cubicBezTo>
                    <a:pt x="771678" y="2953274"/>
                    <a:pt x="-153913" y="2310792"/>
                    <a:pt x="0" y="1478598"/>
                  </a:cubicBezTo>
                  <a:close/>
                </a:path>
              </a:pathLst>
            </a:custGeom>
            <a:solidFill>
              <a:srgbClr val="858E6D">
                <a:alpha val="30000"/>
              </a:srgbClr>
            </a:solidFill>
            <a:ln>
              <a:solidFill>
                <a:srgbClr val="858E6D">
                  <a:alpha val="30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390023152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34F08D-C12A-919D-8897-F89756E49C43}"/>
                </a:ext>
              </a:extLst>
            </p:cNvPr>
            <p:cNvSpPr/>
            <p:nvPr/>
          </p:nvSpPr>
          <p:spPr>
            <a:xfrm>
              <a:off x="10588374" y="5069205"/>
              <a:ext cx="2890580" cy="2741535"/>
            </a:xfrm>
            <a:prstGeom prst="ellipse">
              <a:avLst/>
            </a:prstGeom>
            <a:noFill/>
            <a:ln>
              <a:solidFill>
                <a:srgbClr val="F0EFEA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5C2F7A-1216-22EF-AC0D-E1CA7AFE2215}"/>
              </a:ext>
            </a:extLst>
          </p:cNvPr>
          <p:cNvSpPr txBox="1"/>
          <p:nvPr/>
        </p:nvSpPr>
        <p:spPr>
          <a:xfrm>
            <a:off x="1647406" y="2131141"/>
            <a:ext cx="8339766" cy="12434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0EFEA"/>
                </a:solidFill>
                <a:latin typeface="Nirmala UI"/>
                <a:ea typeface="Nirmala UI"/>
                <a:cs typeface="Nirmala UI"/>
              </a:rPr>
              <a:t>Lets make the space between sessions count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CA4A6-1010-814B-0A84-772ECCB88797}"/>
              </a:ext>
            </a:extLst>
          </p:cNvPr>
          <p:cNvSpPr txBox="1"/>
          <p:nvPr/>
        </p:nvSpPr>
        <p:spPr>
          <a:xfrm>
            <a:off x="3519755" y="5580210"/>
            <a:ext cx="43734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rgbClr val="858E6D"/>
                </a:solidFill>
                <a:latin typeface="Baguet Script"/>
              </a:rPr>
              <a:t>Thankyou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B3DAA2-E2B9-7874-C6FF-13C3CFBD96A8}"/>
              </a:ext>
            </a:extLst>
          </p:cNvPr>
          <p:cNvSpPr/>
          <p:nvPr/>
        </p:nvSpPr>
        <p:spPr>
          <a:xfrm>
            <a:off x="840929" y="3433254"/>
            <a:ext cx="1938303" cy="1307459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DAA14E-0E29-7A42-5DEE-4A515E6CBB09}"/>
              </a:ext>
            </a:extLst>
          </p:cNvPr>
          <p:cNvSpPr/>
          <p:nvPr/>
        </p:nvSpPr>
        <p:spPr>
          <a:xfrm>
            <a:off x="3658890" y="3433253"/>
            <a:ext cx="1923926" cy="1278704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C2C63A-FD85-23DF-74ED-5706CB06FE80}"/>
              </a:ext>
            </a:extLst>
          </p:cNvPr>
          <p:cNvSpPr/>
          <p:nvPr/>
        </p:nvSpPr>
        <p:spPr>
          <a:xfrm>
            <a:off x="6462475" y="3447630"/>
            <a:ext cx="1923926" cy="1278704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6CA750-7715-00C9-2A9B-BB1717177F5B}"/>
              </a:ext>
            </a:extLst>
          </p:cNvPr>
          <p:cNvSpPr/>
          <p:nvPr/>
        </p:nvSpPr>
        <p:spPr>
          <a:xfrm>
            <a:off x="9395455" y="3433253"/>
            <a:ext cx="1923926" cy="1278704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8FF38-00A7-6755-BC3F-F1A1CE33FF23}"/>
              </a:ext>
            </a:extLst>
          </p:cNvPr>
          <p:cNvSpPr txBox="1"/>
          <p:nvPr/>
        </p:nvSpPr>
        <p:spPr>
          <a:xfrm>
            <a:off x="1643126" y="3516878"/>
            <a:ext cx="10885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2E5460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366B26-A67A-7EA1-FC80-A08B017E0070}"/>
              </a:ext>
            </a:extLst>
          </p:cNvPr>
          <p:cNvSpPr txBox="1"/>
          <p:nvPr/>
        </p:nvSpPr>
        <p:spPr>
          <a:xfrm>
            <a:off x="4432333" y="3516877"/>
            <a:ext cx="10885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2E546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003D8-5D52-7936-7ED7-494CB02DD6D8}"/>
              </a:ext>
            </a:extLst>
          </p:cNvPr>
          <p:cNvSpPr txBox="1"/>
          <p:nvPr/>
        </p:nvSpPr>
        <p:spPr>
          <a:xfrm>
            <a:off x="7235919" y="3516878"/>
            <a:ext cx="10885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2E546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0F5206-4FF3-196B-5FA3-BF5137D9AA9A}"/>
              </a:ext>
            </a:extLst>
          </p:cNvPr>
          <p:cNvSpPr txBox="1"/>
          <p:nvPr/>
        </p:nvSpPr>
        <p:spPr>
          <a:xfrm>
            <a:off x="10154521" y="3430612"/>
            <a:ext cx="10885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2E546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21CB2B-95BC-AC1D-5356-53066BD92D6A}"/>
              </a:ext>
            </a:extLst>
          </p:cNvPr>
          <p:cNvSpPr txBox="1"/>
          <p:nvPr/>
        </p:nvSpPr>
        <p:spPr>
          <a:xfrm>
            <a:off x="964163" y="4027714"/>
            <a:ext cx="16795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49000"/>
                  </a:schemeClr>
                </a:solidFill>
              </a:rPr>
              <a:t>AI systems in production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5CF3DF-9BF8-57CF-2DA0-D85E98CD805A}"/>
              </a:ext>
            </a:extLst>
          </p:cNvPr>
          <p:cNvSpPr txBox="1"/>
          <p:nvPr/>
        </p:nvSpPr>
        <p:spPr>
          <a:xfrm>
            <a:off x="3782125" y="3998959"/>
            <a:ext cx="16795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49000"/>
                  </a:schemeClr>
                </a:solidFill>
              </a:rPr>
              <a:t>LLMs with auto-fallback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A4F-FA5C-2B81-94C1-02D64DE04189}"/>
              </a:ext>
            </a:extLst>
          </p:cNvPr>
          <p:cNvSpPr txBox="1"/>
          <p:nvPr/>
        </p:nvSpPr>
        <p:spPr>
          <a:xfrm>
            <a:off x="6643220" y="4027714"/>
            <a:ext cx="16795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49000"/>
                  </a:schemeClr>
                </a:solidFill>
              </a:rPr>
              <a:t>AI-invented statistics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3D85B-3D48-74CA-9467-7F20E0BC8501}"/>
              </a:ext>
            </a:extLst>
          </p:cNvPr>
          <p:cNvSpPr txBox="1"/>
          <p:nvPr/>
        </p:nvSpPr>
        <p:spPr>
          <a:xfrm>
            <a:off x="9389295" y="3998959"/>
            <a:ext cx="19383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49000"/>
                  </a:schemeClr>
                </a:solidFill>
              </a:rPr>
              <a:t>Languages , full RTL support</a:t>
            </a:r>
          </a:p>
        </p:txBody>
      </p:sp>
    </p:spTree>
    <p:extLst>
      <p:ext uri="{BB962C8B-B14F-4D97-AF65-F5344CB8AC3E}">
        <p14:creationId xmlns:p14="http://schemas.microsoft.com/office/powerpoint/2010/main" val="133264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1662</cp:revision>
  <dcterms:created xsi:type="dcterms:W3CDTF">2026-09-02T20:01:49Z</dcterms:created>
  <dcterms:modified xsi:type="dcterms:W3CDTF">2026-09-04T08:08:40Z</dcterms:modified>
</cp:coreProperties>
</file>